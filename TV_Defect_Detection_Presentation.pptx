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463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r>
              <a:rPr lang="en-US" sz="3500"/>
              <a:t>Automated TV Defect Detection using GenAI</a:t>
            </a:r>
          </a:p>
        </p:txBody>
      </p:sp>
      <p:pic>
        <p:nvPicPr>
          <p:cNvPr id="7" name="Graphic 6" descr="רובוט">
            <a:extLst>
              <a:ext uri="{FF2B5EF4-FFF2-40B4-BE49-F238E27FC236}">
                <a16:creationId xmlns:a16="http://schemas.microsoft.com/office/drawing/2014/main" id="{579286FE-EC8A-56A9-61D3-5D1723B39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97" y="1759590"/>
            <a:ext cx="2907124" cy="29071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9318" y="2405894"/>
            <a:ext cx="4634682" cy="3197464"/>
          </a:xfrm>
        </p:spPr>
        <p:txBody>
          <a:bodyPr anchor="t">
            <a:normAutofit/>
          </a:bodyPr>
          <a:lstStyle/>
          <a:p>
            <a:pPr marL="0" indent="0" algn="r" rtl="1">
              <a:buNone/>
            </a:pPr>
            <a:r>
              <a:rPr lang="he-IL" sz="2800" dirty="0"/>
              <a:t>מגישים: </a:t>
            </a:r>
            <a:br>
              <a:rPr lang="en-US" sz="2800" dirty="0"/>
            </a:br>
            <a:r>
              <a:rPr lang="he-IL" sz="2800" dirty="0"/>
              <a:t>עמית </a:t>
            </a:r>
            <a:r>
              <a:rPr lang="he-IL" sz="2800" dirty="0" err="1"/>
              <a:t>וגנסברג</a:t>
            </a:r>
            <a:br>
              <a:rPr lang="en-US" sz="2800" dirty="0"/>
            </a:br>
            <a:r>
              <a:rPr lang="he-IL" sz="2800" dirty="0"/>
              <a:t>אורי צרפתי</a:t>
            </a:r>
            <a:br>
              <a:rPr lang="en-US" sz="2800" dirty="0"/>
            </a:br>
            <a:r>
              <a:rPr lang="he-IL" sz="2800" dirty="0"/>
              <a:t>יניב </a:t>
            </a:r>
            <a:r>
              <a:rPr lang="he-IL" sz="2800" dirty="0" err="1"/>
              <a:t>חנניס</a:t>
            </a:r>
            <a:endParaRPr lang="he-IL" sz="2800" dirty="0"/>
          </a:p>
          <a:p>
            <a:pPr marL="0" indent="0" algn="r" rtl="1">
              <a:buNone/>
            </a:pPr>
            <a:endParaRPr lang="he-IL" sz="1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Motivation &amp; Use Case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8846E67-D28D-E1F4-58F7-91EC1A8B9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2637"/>
            <a:ext cx="8229600" cy="452596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en-GB" sz="2800" dirty="0"/>
              <a:t>Use case background</a:t>
            </a:r>
            <a:r>
              <a:rPr lang="he-IL" sz="2800" dirty="0"/>
              <a:t>: בקרת איכות בפס ייצור של טלוויזיות לזיהוי פגמים במסכים.</a:t>
            </a:r>
          </a:p>
          <a:p>
            <a:pPr marL="0" indent="0" algn="r" rtl="1">
              <a:buNone/>
            </a:pPr>
            <a:r>
              <a:rPr lang="en-GB" sz="2800" dirty="0"/>
              <a:t>Why the problem is important</a:t>
            </a:r>
            <a:r>
              <a:rPr lang="he-IL" sz="2800" dirty="0"/>
              <a:t>: מניעת הגעה של מוצרים תקולים ללקוחות ,חיסכון בעליות החזרה ותיקון וחיסכון בעלות של בדיקות ידניות.</a:t>
            </a:r>
          </a:p>
          <a:p>
            <a:pPr marL="0" indent="0" algn="r" rtl="1">
              <a:buNone/>
            </a:pPr>
            <a:r>
              <a:rPr lang="en-GB" sz="2800" dirty="0"/>
              <a:t>How the problem is solved today</a:t>
            </a:r>
            <a:r>
              <a:rPr lang="he-IL" sz="2800" dirty="0"/>
              <a:t>: בדיקה ידנית או אלגוריתמים קלאסיים. </a:t>
            </a:r>
            <a:endParaRPr lang="LID4096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1127" y="36946"/>
            <a:ext cx="3174400" cy="1219199"/>
          </a:xfrm>
        </p:spPr>
        <p:txBody>
          <a:bodyPr anchor="b">
            <a:normAutofit/>
          </a:bodyPr>
          <a:lstStyle/>
          <a:p>
            <a:r>
              <a:rPr lang="en-GB" sz="2800" dirty="0"/>
              <a:t>The Task – Object Detection</a:t>
            </a:r>
          </a:p>
        </p:txBody>
      </p:sp>
      <p:pic>
        <p:nvPicPr>
          <p:cNvPr id="5" name="תמונה 4" descr="תמונה שמכילה בתוך מבנה, עיצוב">
            <a:extLst>
              <a:ext uri="{FF2B5EF4-FFF2-40B4-BE49-F238E27FC236}">
                <a16:creationId xmlns:a16="http://schemas.microsoft.com/office/drawing/2014/main" id="{2F05A0F0-433F-D65D-A1A0-2938F991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53" r="7000" b="1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2717" y="1700322"/>
            <a:ext cx="3601283" cy="2724728"/>
          </a:xfrm>
        </p:spPr>
        <p:txBody>
          <a:bodyPr anchor="t">
            <a:noAutofit/>
          </a:bodyPr>
          <a:lstStyle/>
          <a:p>
            <a:pPr marL="0" indent="0" algn="r" rtl="1">
              <a:buNone/>
            </a:pPr>
            <a:r>
              <a:rPr lang="en-GB" sz="2400" dirty="0"/>
              <a:t>Formal problem statement</a:t>
            </a:r>
            <a:r>
              <a:rPr lang="he-IL" sz="2400" dirty="0"/>
              <a:t>: פיתוח מודל למערכת אוטומטית לגילוי וסיווג פגמים ויזואליים במסכי טלוויזיה).</a:t>
            </a:r>
          </a:p>
          <a:p>
            <a:pPr marL="0" indent="0" algn="r" rtl="1">
              <a:buNone/>
            </a:pPr>
            <a:r>
              <a:rPr lang="en-GB" sz="2400" dirty="0"/>
              <a:t>Inputs</a:t>
            </a:r>
            <a:r>
              <a:rPr lang="he-IL" sz="2400" dirty="0"/>
              <a:t>: תמונה של מסך טלוויזיה מפס הייצור.</a:t>
            </a:r>
          </a:p>
          <a:p>
            <a:pPr marL="0" indent="0" algn="r" rtl="1">
              <a:buNone/>
            </a:pPr>
            <a:r>
              <a:rPr lang="en-GB" sz="2400" dirty="0"/>
              <a:t>Outputs</a:t>
            </a:r>
            <a:r>
              <a:rPr lang="he-IL" sz="2400" dirty="0"/>
              <a:t>:</a:t>
            </a:r>
          </a:p>
          <a:p>
            <a:pPr marL="0" indent="0" algn="r" rtl="1">
              <a:buNone/>
            </a:pPr>
            <a:r>
              <a:rPr lang="he-IL" sz="2400" dirty="0"/>
              <a:t>סיווג סוג הפגם: שבר, פיקסל שרוף או בעיית תאורה אחורית.</a:t>
            </a:r>
          </a:p>
          <a:p>
            <a:pPr marL="0" indent="0" algn="r" rtl="1">
              <a:buNone/>
            </a:pPr>
            <a:r>
              <a:rPr lang="he-IL" sz="2400" dirty="0"/>
              <a:t>מיקום הפגם על גבי התמונה עם </a:t>
            </a:r>
            <a:r>
              <a:rPr lang="en-GB" sz="2400" dirty="0" err="1"/>
              <a:t>Boundign</a:t>
            </a:r>
            <a:r>
              <a:rPr lang="en-GB" sz="2400" dirty="0"/>
              <a:t> box</a:t>
            </a:r>
            <a:r>
              <a:rPr lang="he-IL" sz="2400" dirty="0"/>
              <a:t>.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Synthetic Data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126" y="2335317"/>
            <a:ext cx="8215747" cy="3381993"/>
          </a:xfrm>
        </p:spPr>
        <p:txBody>
          <a:bodyPr anchor="ctr">
            <a:noAutofit/>
          </a:bodyPr>
          <a:lstStyle/>
          <a:p>
            <a:pPr marL="0" indent="0" algn="r" rtl="1">
              <a:buNone/>
            </a:pPr>
            <a:endParaRPr lang="he-IL" sz="2800" dirty="0"/>
          </a:p>
          <a:p>
            <a:pPr marL="0" indent="0" algn="r" rtl="1">
              <a:buNone/>
            </a:pPr>
            <a:r>
              <a:rPr lang="en-GB" sz="2800" dirty="0"/>
              <a:t>Models/Techniques</a:t>
            </a:r>
            <a:r>
              <a:rPr lang="he-IL" sz="2800" dirty="0"/>
              <a:t>:</a:t>
            </a:r>
            <a:endParaRPr lang="en-GB" sz="2800" dirty="0"/>
          </a:p>
          <a:p>
            <a:pPr marL="0" indent="0" algn="r" rtl="1">
              <a:buNone/>
            </a:pPr>
            <a:r>
              <a:rPr lang="he-IL" sz="2800" dirty="0"/>
              <a:t>שימוש ב</a:t>
            </a:r>
            <a:r>
              <a:rPr lang="en-GB" sz="2800" dirty="0"/>
              <a:t> Stable Diffusion </a:t>
            </a:r>
            <a:r>
              <a:rPr lang="he-IL" sz="2800" dirty="0"/>
              <a:t>עם </a:t>
            </a:r>
            <a:r>
              <a:rPr lang="en-GB" sz="2800" dirty="0"/>
              <a:t> ControlNet </a:t>
            </a:r>
            <a:r>
              <a:rPr lang="he-IL" sz="2800" dirty="0"/>
              <a:t>ו</a:t>
            </a:r>
            <a:r>
              <a:rPr lang="en-GB" sz="2800" dirty="0"/>
              <a:t> Inpainting</a:t>
            </a:r>
            <a:r>
              <a:rPr lang="he-IL" sz="2800" dirty="0"/>
              <a:t>כדי להכניס פגמים לתמונות של מסכים תקינים.</a:t>
            </a:r>
          </a:p>
          <a:p>
            <a:pPr marL="0" indent="0" algn="r" rtl="1">
              <a:buNone/>
            </a:pPr>
            <a:r>
              <a:rPr lang="he-IL" sz="2800" dirty="0"/>
              <a:t>מודל </a:t>
            </a:r>
            <a:r>
              <a:rPr lang="en-US" sz="2800" dirty="0"/>
              <a:t>O</a:t>
            </a:r>
            <a:r>
              <a:rPr lang="en-GB" sz="2800" dirty="0" err="1"/>
              <a:t>bject</a:t>
            </a:r>
            <a:r>
              <a:rPr lang="en-GB" sz="2800" dirty="0"/>
              <a:t> Detection </a:t>
            </a:r>
            <a:r>
              <a:rPr lang="he-IL" sz="2800" dirty="0"/>
              <a:t> לביצוע הזיהוי של הפגמים.</a:t>
            </a:r>
          </a:p>
          <a:p>
            <a:pPr marL="0" indent="0" algn="r" rtl="1">
              <a:buNone/>
            </a:pPr>
            <a:r>
              <a:rPr lang="en-GB" sz="2800" dirty="0"/>
              <a:t>Variations</a:t>
            </a:r>
            <a:r>
              <a:rPr lang="he-IL" sz="2800" dirty="0"/>
              <a:t>: זיוויות צילום סוגי שברים ופגמים במיקומים שונים (על מסך פועל ולא פועל) </a:t>
            </a:r>
          </a:p>
          <a:p>
            <a:pPr marL="0" indent="0">
              <a:buNone/>
            </a:pPr>
            <a:r>
              <a:rPr lang="en-GB" sz="2800" dirty="0"/>
              <a:t>Prompt example  : “Photorealistic spiderweb crack on black LCD TV screen, shattered glass texture, sharp jagged edges, realistic reflection, 4k resolution, industrial inspection photo style”.</a:t>
            </a:r>
          </a:p>
          <a:p>
            <a:pPr marL="0" indent="0" algn="r" rtl="1">
              <a:buNone/>
            </a:pPr>
            <a:endParaRPr lang="he-IL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Evaluation Metrics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44512" y="2195400"/>
            <a:ext cx="7873997" cy="2792237"/>
          </a:xfrm>
        </p:spPr>
        <p:txBody>
          <a:bodyPr anchor="ctr">
            <a:normAutofit/>
          </a:bodyPr>
          <a:lstStyle/>
          <a:p>
            <a:pPr marL="0" indent="0" algn="r" rtl="1">
              <a:buNone/>
            </a:pPr>
            <a:r>
              <a:rPr lang="en-GB" sz="2800" dirty="0" err="1"/>
              <a:t>mAP</a:t>
            </a:r>
            <a:r>
              <a:rPr lang="he-IL" sz="2800" dirty="0"/>
              <a:t>: למדידת הדיוק במיקום וסיווג הפגם.</a:t>
            </a:r>
          </a:p>
          <a:p>
            <a:pPr marL="0" indent="0" algn="r" rtl="1">
              <a:buNone/>
            </a:pPr>
            <a:endParaRPr lang="he-IL" sz="2800" dirty="0"/>
          </a:p>
          <a:p>
            <a:pPr marL="0" indent="0" algn="r" rtl="1">
              <a:buNone/>
            </a:pPr>
            <a:r>
              <a:rPr lang="en-GB" sz="2800" dirty="0"/>
              <a:t>Recall</a:t>
            </a:r>
            <a:r>
              <a:rPr lang="he-IL" sz="2800" dirty="0"/>
              <a:t>: להבטיח שאנחנו לא מפספסים פגמים אמיתיים (עדיף </a:t>
            </a:r>
            <a:r>
              <a:rPr lang="en-GB" sz="2800" dirty="0"/>
              <a:t>False Positive</a:t>
            </a:r>
            <a:r>
              <a:rPr lang="he-IL" sz="2800" dirty="0"/>
              <a:t> על פני </a:t>
            </a:r>
            <a:r>
              <a:rPr lang="en-GB" sz="2800" dirty="0"/>
              <a:t>False Negative</a:t>
            </a:r>
            <a:r>
              <a:rPr lang="he-IL" sz="2800" dirty="0"/>
              <a:t>)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231</Words>
  <Application>Microsoft Office PowerPoint</Application>
  <PresentationFormat>‫הצגה על המסך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Automated TV Defect Detection using GenAI</vt:lpstr>
      <vt:lpstr>Motivation &amp; Use Case</vt:lpstr>
      <vt:lpstr>The Task – Object Detection</vt:lpstr>
      <vt:lpstr>Synthetic Data Strategy</vt:lpstr>
      <vt:lpstr>Evaluation Metrics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Wagensberg</cp:lastModifiedBy>
  <cp:revision>9</cp:revision>
  <dcterms:created xsi:type="dcterms:W3CDTF">2013-01-27T09:14:16Z</dcterms:created>
  <dcterms:modified xsi:type="dcterms:W3CDTF">2025-11-30T19:31:13Z</dcterms:modified>
  <cp:category/>
</cp:coreProperties>
</file>