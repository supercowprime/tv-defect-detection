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7_5DFAD56B.xml" ContentType="application/vnd.ms-powerpoint.comments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60" r:id="rId6"/>
    <p:sldId id="263" r:id="rId7"/>
    <p:sldId id="261" r:id="rId8"/>
  </p:sldIdLst>
  <p:sldSz cx="14630400" cy="8229600"/>
  <p:notesSz cx="8229600" cy="14630400"/>
  <p:embeddedFontLst>
    <p:embeddedFont>
      <p:font typeface="Instrument Sans Medium" panose="020B0604020202020204" charset="0"/>
      <p:regular r:id="rId10"/>
    </p:embeddedFont>
    <p:embeddedFont>
      <p:font typeface="Open Sans" panose="020B0606030504020204" pitchFamily="34" charset="0"/>
      <p:regular r:id="rId11"/>
      <p:bold r:id="rId12"/>
    </p:embeddedFont>
  </p:embeddedFontLst>
  <p:defaultTextStyle>
    <a:defPPr>
      <a:defRPr lang="LID4096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8B30D0-CC94-00BB-91B0-3327AF7EDF53}" name="Amit Wagensberg" initials="AW" userId="S::amitwag@my.hit.ac.il::eff72b76-f8fb-4412-9d86-d5d3d9cbc56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omments/modernComment_107_5DFAD56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652780-156F-4D01-9852-BF849FD265EF}" authorId="{148B30D0-CC94-00BB-91B0-3327AF7EDF53}" created="2026-01-21T12:58:08.610">
    <pc:sldMkLst xmlns:pc="http://schemas.microsoft.com/office/powerpoint/2013/main/command">
      <pc:docMk/>
      <pc:sldMk cId="1576719723" sldId="263"/>
    </pc:sldMkLst>
    <p188:txBody>
      <a:bodyPr/>
      <a:lstStyle/>
      <a:p>
        <a:r>
          <a:rPr lang="LID4096"/>
          <a:t>בעקבות אי דיוק שלי בהעברת הקבצים בRAW קיים יותר DATA מאשר 7200 תמונות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048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07_5DFAD56B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09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1" y="2826097"/>
            <a:ext cx="8207931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4700"/>
              </a:lnSpc>
              <a:buNone/>
            </a:pPr>
            <a:r>
              <a:rPr lang="en-US" sz="4000" dirty="0">
                <a:solidFill>
                  <a:srgbClr val="FEFEFE"/>
                </a:solidFill>
                <a:ea typeface="Instrument Sans Medium" pitchFamily="34" charset="-122"/>
                <a:cs typeface="Instrument Sans Medium" pitchFamily="34" charset="-120"/>
              </a:rPr>
              <a:t>Project Definition and Achievements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93788" y="3988188"/>
            <a:ext cx="130428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4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Project Goal: To</a:t>
            </a:r>
            <a:r>
              <a:rPr lang="en-US" sz="2400" dirty="0">
                <a:solidFill>
                  <a:srgbClr val="BFBFBF"/>
                </a:solidFill>
              </a:rPr>
              <a:t> create realistic synthetic datasets for training Quality Assurance models though the use of image generation.</a:t>
            </a:r>
          </a:p>
          <a:p>
            <a:pPr algn="l" rtl="0">
              <a:lnSpc>
                <a:spcPts val="2400"/>
              </a:lnSpc>
              <a:buSzPct val="100000"/>
            </a:pPr>
            <a:endParaRPr lang="en-US" dirty="0">
              <a:solidFill>
                <a:srgbClr val="BFBFBF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1" y="4882523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Achievements: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99197" y="5401966"/>
            <a:ext cx="13042821" cy="394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 rtl="0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Developed four-stage pipeline: Base Generation, Smart Labeling/Masking, Defect Injection, and Perspective Rectification.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99198" y="6080705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 rtl="0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Scale of Success: Generated a dataset of 7,200 images</a:t>
            </a:r>
            <a:r>
              <a:rPr lang="he-IL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99198" y="6510870"/>
            <a:ext cx="13479257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 rtl="0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Successfully classified five distinct classes: (Good, Spiderweb, Scratch, Shattered Corner, and Puncture) </a:t>
            </a:r>
            <a:b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</a:b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with 99.03% accuracy.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93789" y="7439035"/>
            <a:ext cx="130428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400"/>
              </a:lnSpc>
              <a:buSzPct val="100000"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Novelty: comparative analysis between models trained on Raw vs. Rectified images</a:t>
            </a:r>
            <a:endParaRPr lang="en-US" sz="2400" dirty="0"/>
          </a:p>
        </p:txBody>
      </p:sp>
      <p:pic>
        <p:nvPicPr>
          <p:cNvPr id="11" name="תמונה 10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ECFC070-E324-99B3-C3A0-030109731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1714742-864A-80BB-3CAD-ADC99A107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  <p:pic>
        <p:nvPicPr>
          <p:cNvPr id="4" name="תמונה 3" descr="תמונה שמכילה בתוך מבנה, מחשב, צג מחשב, רצפ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A65E0B0-23A2-460E-99ED-458E21AE0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76" y="606744"/>
            <a:ext cx="5682751" cy="319654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תמונה 5" descr="תמונה שמכילה בתוך מבנה, קיר, חדר, אומנו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6DC0B49-F5A7-205F-3944-662B57531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99" y="4792222"/>
            <a:ext cx="5682750" cy="319654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תמונה 7" descr="תמונה שמכילה בתוך מבנה, אומנות, קיר, רצפ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284E536-89C9-07A7-008A-0FB4918CE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8626" y="606744"/>
            <a:ext cx="5682751" cy="319654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תמונה 9" descr="תמונה שמכילה בתוך מבנה, קיר, טלוויזיה, חד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DA30518-BEAA-8456-6C5C-2934352F0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627" y="4792222"/>
            <a:ext cx="5682750" cy="319654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B5E5D1DF-61D3-3F40-F772-9D213938AEFD}"/>
              </a:ext>
            </a:extLst>
          </p:cNvPr>
          <p:cNvSpPr txBox="1"/>
          <p:nvPr/>
        </p:nvSpPr>
        <p:spPr>
          <a:xfrm>
            <a:off x="1682043" y="0"/>
            <a:ext cx="194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BFBFBF"/>
                </a:solidFill>
              </a:rPr>
              <a:t>Puncture</a:t>
            </a:r>
            <a:endParaRPr lang="LID4096" sz="2000" dirty="0">
              <a:solidFill>
                <a:srgbClr val="BFBFBF"/>
              </a:solidFill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8F4C6C6-5A3D-FD2A-6E2E-063A61E3C15D}"/>
              </a:ext>
            </a:extLst>
          </p:cNvPr>
          <p:cNvSpPr txBox="1"/>
          <p:nvPr/>
        </p:nvSpPr>
        <p:spPr>
          <a:xfrm>
            <a:off x="10359156" y="9998"/>
            <a:ext cx="227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BFBFBF"/>
                </a:solidFill>
              </a:rPr>
              <a:t>Shattered corner</a:t>
            </a:r>
            <a:endParaRPr lang="LID4096" sz="2000" dirty="0">
              <a:solidFill>
                <a:srgbClr val="BFBFBF"/>
              </a:solidFill>
            </a:endParaRP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5DBD901F-A56E-C3A2-099F-DA02E431A113}"/>
              </a:ext>
            </a:extLst>
          </p:cNvPr>
          <p:cNvSpPr txBox="1"/>
          <p:nvPr/>
        </p:nvSpPr>
        <p:spPr>
          <a:xfrm>
            <a:off x="1682042" y="4114800"/>
            <a:ext cx="1941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BFBFBF"/>
                </a:solidFill>
              </a:rPr>
              <a:t>Scratch</a:t>
            </a:r>
            <a:endParaRPr lang="LID4096" sz="2000" dirty="0">
              <a:solidFill>
                <a:srgbClr val="BFBFBF"/>
              </a:solidFill>
            </a:endParaRP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39EF3934-F43C-54BB-7FF7-A86008E0898F}"/>
              </a:ext>
            </a:extLst>
          </p:cNvPr>
          <p:cNvSpPr txBox="1"/>
          <p:nvPr/>
        </p:nvSpPr>
        <p:spPr>
          <a:xfrm>
            <a:off x="10359155" y="4195477"/>
            <a:ext cx="2314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BFBFBF"/>
                </a:solidFill>
              </a:rPr>
              <a:t>Spiderweb crack</a:t>
            </a:r>
            <a:endParaRPr lang="LID4096" sz="2000" dirty="0">
              <a:solidFill>
                <a:srgbClr val="BFBF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1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3140"/>
            <a:ext cx="618124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rtl="0">
              <a:lnSpc>
                <a:spcPts val="3600"/>
              </a:lnSpc>
            </a:pPr>
            <a:r>
              <a:rPr lang="en-US" sz="4800" dirty="0">
                <a:solidFill>
                  <a:srgbClr val="FEFEFE"/>
                </a:solidFill>
                <a:ea typeface="Instrument Sans Medium" pitchFamily="34" charset="-122"/>
                <a:cs typeface="Instrument Sans Medium" pitchFamily="34" charset="-120"/>
              </a:rPr>
              <a:t>Data Preparation and Quality Efforts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93786" y="1645814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Dataset Composition: </a:t>
            </a:r>
            <a:r>
              <a:rPr lang="en-US" sz="2400" dirty="0">
                <a:solidFill>
                  <a:srgbClr val="BFBFBF"/>
                </a:solidFill>
              </a:rPr>
              <a:t>We generated a total of 7,200 images: 3,600 Base Images </a:t>
            </a:r>
            <a:br>
              <a:rPr lang="en-US" sz="2400" dirty="0">
                <a:solidFill>
                  <a:srgbClr val="BFBFBF"/>
                </a:solidFill>
              </a:rPr>
            </a:br>
            <a:r>
              <a:rPr lang="en-US" sz="2400" dirty="0">
                <a:solidFill>
                  <a:srgbClr val="BFBFBF"/>
                </a:solidFill>
              </a:rPr>
              <a:t>and 3,600 Defected Images (900 for each of four defect categories).</a:t>
            </a:r>
          </a:p>
          <a:p>
            <a:pPr marL="342900" indent="-342900" algn="l" rtl="0"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BFBFB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81" y="2799148"/>
            <a:ext cx="1323752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Synthetic Generation: </a:t>
            </a:r>
            <a:r>
              <a:rPr lang="en-US" sz="2400" dirty="0">
                <a:solidFill>
                  <a:srgbClr val="BFBFBF"/>
                </a:solidFill>
              </a:rPr>
              <a:t>SDXL Lightning was used to create base images of TVs in industrial environments.</a:t>
            </a:r>
          </a:p>
          <a:p>
            <a:pPr marL="342900" indent="-342900" algn="l" rtl="0"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BFBFB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3464584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BFBFBF"/>
                </a:solidFill>
              </a:rPr>
              <a:t>Precision Masking</a:t>
            </a:r>
            <a:r>
              <a:rPr lang="en-US" sz="2400" b="1" dirty="0">
                <a:solidFill>
                  <a:srgbClr val="BFBFBF"/>
                </a:solidFill>
              </a:rPr>
              <a:t>:</a:t>
            </a:r>
            <a:r>
              <a:rPr lang="en-US" sz="2400" dirty="0">
                <a:solidFill>
                  <a:srgbClr val="BFBFBF"/>
                </a:solidFill>
              </a:rPr>
              <a:t> Combined OWLv2 for object detection and SAM for segmentation.</a:t>
            </a:r>
          </a:p>
        </p:txBody>
      </p:sp>
      <p:sp>
        <p:nvSpPr>
          <p:cNvPr id="9" name="Text 7"/>
          <p:cNvSpPr/>
          <p:nvPr/>
        </p:nvSpPr>
        <p:spPr>
          <a:xfrm>
            <a:off x="793778" y="4139581"/>
            <a:ext cx="13042821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Perspective Rectification: A preprocessing script using OpenCV identified screen corners and applied perspective transformation for standardized, "flat" views.</a:t>
            </a:r>
            <a:endParaRPr lang="en-US" sz="2400" dirty="0"/>
          </a:p>
        </p:txBody>
      </p:sp>
      <p:pic>
        <p:nvPicPr>
          <p:cNvPr id="11" name="תמונה 10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3C1392D-7356-3670-0CC3-6056EA4C0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72E8A095-A129-891C-686A-7D5314FB6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701" y="5667120"/>
            <a:ext cx="2568124" cy="2568124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F618D3DC-A541-19E2-1278-D3C4A2886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00" y="5667022"/>
            <a:ext cx="2568222" cy="2568222"/>
          </a:xfrm>
          <a:prstGeom prst="rect">
            <a:avLst/>
          </a:prstGeom>
        </p:spPr>
      </p:pic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64475788-04A6-5DBC-1D06-AB2EEAF290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5755" y="5666881"/>
            <a:ext cx="2568124" cy="2568124"/>
          </a:xfrm>
          <a:prstGeom prst="rect">
            <a:avLst/>
          </a:prstGeom>
        </p:spPr>
      </p:pic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D09646E4-A2CE-6EE5-FC22-95883A4A32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4079" y="5666902"/>
            <a:ext cx="2568222" cy="2568222"/>
          </a:xfrm>
          <a:prstGeom prst="rect">
            <a:avLst/>
          </a:prstGeom>
        </p:spPr>
      </p:pic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D52E869B-DFA8-93FA-333F-9165BD65E2AB}"/>
              </a:ext>
            </a:extLst>
          </p:cNvPr>
          <p:cNvSpPr txBox="1"/>
          <p:nvPr/>
        </p:nvSpPr>
        <p:spPr>
          <a:xfrm>
            <a:off x="748314" y="5290104"/>
            <a:ext cx="1980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The Good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A7362ED0-56B1-FB80-1F18-0657B1F0BA35}"/>
              </a:ext>
            </a:extLst>
          </p:cNvPr>
          <p:cNvSpPr txBox="1"/>
          <p:nvPr/>
        </p:nvSpPr>
        <p:spPr>
          <a:xfrm>
            <a:off x="4437999" y="5290104"/>
            <a:ext cx="1980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The Mask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E1F5D196-BE70-79FC-DF91-944FCAC8E652}"/>
              </a:ext>
            </a:extLst>
          </p:cNvPr>
          <p:cNvSpPr txBox="1"/>
          <p:nvPr/>
        </p:nvSpPr>
        <p:spPr>
          <a:xfrm>
            <a:off x="8418488" y="5245357"/>
            <a:ext cx="1980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The Bad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FFD901BA-5CDA-E736-FF8A-1B4F868F4A39}"/>
              </a:ext>
            </a:extLst>
          </p:cNvPr>
          <p:cNvSpPr txBox="1"/>
          <p:nvPr/>
        </p:nvSpPr>
        <p:spPr>
          <a:xfrm>
            <a:off x="12127228" y="5288162"/>
            <a:ext cx="1980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The Ugly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20" name="חץ: ימינה 19">
            <a:extLst>
              <a:ext uri="{FF2B5EF4-FFF2-40B4-BE49-F238E27FC236}">
                <a16:creationId xmlns:a16="http://schemas.microsoft.com/office/drawing/2014/main" id="{736A4A4B-CED1-8364-71BC-6A5F6065E583}"/>
              </a:ext>
            </a:extLst>
          </p:cNvPr>
          <p:cNvSpPr/>
          <p:nvPr/>
        </p:nvSpPr>
        <p:spPr>
          <a:xfrm>
            <a:off x="3206044" y="6784622"/>
            <a:ext cx="824089" cy="41768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1" name="חץ: ימינה 20">
            <a:extLst>
              <a:ext uri="{FF2B5EF4-FFF2-40B4-BE49-F238E27FC236}">
                <a16:creationId xmlns:a16="http://schemas.microsoft.com/office/drawing/2014/main" id="{7ECDA9BD-33DE-D9FB-C335-8BEF94B73CEE}"/>
              </a:ext>
            </a:extLst>
          </p:cNvPr>
          <p:cNvSpPr/>
          <p:nvPr/>
        </p:nvSpPr>
        <p:spPr>
          <a:xfrm>
            <a:off x="6899447" y="6784621"/>
            <a:ext cx="824089" cy="41768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2" name="חץ: ימינה 21">
            <a:extLst>
              <a:ext uri="{FF2B5EF4-FFF2-40B4-BE49-F238E27FC236}">
                <a16:creationId xmlns:a16="http://schemas.microsoft.com/office/drawing/2014/main" id="{18631128-4EA1-ED59-1A07-32A1419F95A5}"/>
              </a:ext>
            </a:extLst>
          </p:cNvPr>
          <p:cNvSpPr/>
          <p:nvPr/>
        </p:nvSpPr>
        <p:spPr>
          <a:xfrm>
            <a:off x="10800407" y="6784622"/>
            <a:ext cx="824089" cy="41768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08368" y="114070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 rtl="0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Fine-Tuning: Attempted to use Dreambooth to fine-tune a model on defect data, but the results did not meet quality standards.</a:t>
            </a:r>
            <a:endParaRPr lang="en-US" sz="2400" dirty="0">
              <a:solidFill>
                <a:srgbClr val="BFBFB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08367" y="194991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 rtl="0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Localized Inpainting: Tested inpainting in small, specific areas, which created unnatural artifacts and "bad" visual transitions.</a:t>
            </a:r>
            <a:endParaRPr lang="en-US" sz="2400" dirty="0">
              <a:solidFill>
                <a:srgbClr val="BFBFBF"/>
              </a:solidFill>
            </a:endParaRPr>
          </a:p>
        </p:txBody>
      </p:sp>
      <p:pic>
        <p:nvPicPr>
          <p:cNvPr id="8" name="תמונה 7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AC085DA-3A2A-7C57-C7A2-FF988A49E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0DE9C75-9F2D-9D45-E6AC-D3357F2D2036}"/>
              </a:ext>
            </a:extLst>
          </p:cNvPr>
          <p:cNvSpPr txBox="1"/>
          <p:nvPr/>
        </p:nvSpPr>
        <p:spPr>
          <a:xfrm>
            <a:off x="556723" y="2759129"/>
            <a:ext cx="121319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Prompt Engineering: </a:t>
            </a:r>
            <a:r>
              <a:rPr lang="en-US" sz="2400" dirty="0">
                <a:solidFill>
                  <a:srgbClr val="BFBFBF"/>
                </a:solidFill>
              </a:rPr>
              <a:t>negative prompting ensured baseline screens were "clean" and suitable.</a:t>
            </a:r>
          </a:p>
          <a:p>
            <a:pPr marL="342900" indent="-342900" algn="l" rtl="0">
              <a:buSzPct val="100000"/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BFBFBF"/>
              </a:solidFill>
            </a:endParaRPr>
          </a:p>
        </p:txBody>
      </p:sp>
      <p:pic>
        <p:nvPicPr>
          <p:cNvPr id="13" name="תמונה 12" descr="תמונה שמכילה טקסט, לוח מודעות, טלוויזיה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DE606D1-5317-D8F5-0BB4-24BE3064B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299" y="4526659"/>
            <a:ext cx="3281057" cy="3281057"/>
          </a:xfrm>
          <a:prstGeom prst="rect">
            <a:avLst/>
          </a:prstGeom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54ED3C6B-E5C1-34E0-37DA-FD5A9D28768D}"/>
              </a:ext>
            </a:extLst>
          </p:cNvPr>
          <p:cNvSpPr txBox="1"/>
          <p:nvPr/>
        </p:nvSpPr>
        <p:spPr>
          <a:xfrm>
            <a:off x="8422216" y="3800497"/>
            <a:ext cx="4266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BFBFBF"/>
                </a:solidFill>
              </a:rPr>
              <a:t>Without prompt engineering </a:t>
            </a:r>
            <a:endParaRPr lang="LID4096" sz="2400" dirty="0">
              <a:solidFill>
                <a:srgbClr val="BFBFBF"/>
              </a:solidFill>
            </a:endParaRPr>
          </a:p>
        </p:txBody>
      </p:sp>
      <p:pic>
        <p:nvPicPr>
          <p:cNvPr id="17" name="תמונה 16" descr="תמונה שמכילה בתוך מבנה, אולם, רצפה, אומנו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2BE68D0-08AE-E828-53B6-7A16E72E2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23" y="4248648"/>
            <a:ext cx="6327232" cy="3559068"/>
          </a:xfrm>
          <a:prstGeom prst="rect">
            <a:avLst/>
          </a:prstGeom>
        </p:spPr>
      </p:pic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380B3157-045C-10E3-751E-8D37FB6CE950}"/>
              </a:ext>
            </a:extLst>
          </p:cNvPr>
          <p:cNvSpPr txBox="1"/>
          <p:nvPr/>
        </p:nvSpPr>
        <p:spPr>
          <a:xfrm>
            <a:off x="1587092" y="3750119"/>
            <a:ext cx="4266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>
                <a:solidFill>
                  <a:srgbClr val="BFBFBF"/>
                </a:solidFill>
              </a:rPr>
              <a:t>Dreambooth</a:t>
            </a:r>
            <a:r>
              <a:rPr lang="en-GB" sz="2400" dirty="0">
                <a:solidFill>
                  <a:srgbClr val="BFBFBF"/>
                </a:solidFill>
              </a:rPr>
              <a:t> Failure</a:t>
            </a:r>
            <a:endParaRPr lang="LID4096" sz="2400" dirty="0">
              <a:solidFill>
                <a:srgbClr val="BFBFB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4268"/>
            <a:ext cx="12914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00" dirty="0">
                <a:solidFill>
                  <a:srgbClr val="FEFEFE"/>
                </a:solidFill>
                <a:ea typeface="Instrument Sans Medium" pitchFamily="34" charset="-122"/>
                <a:cs typeface="Instrument Sans Medium" pitchFamily="34" charset="-120"/>
              </a:rPr>
              <a:t>Methodology and Results (Comparative Analysis)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0" y="19766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rtl="0">
              <a:lnSpc>
                <a:spcPts val="2850"/>
              </a:lnSpc>
              <a:buSzPct val="100000"/>
            </a:pPr>
            <a:r>
              <a:rPr lang="en-US" sz="2400" dirty="0">
                <a:solidFill>
                  <a:schemeClr val="bg1"/>
                </a:solidFill>
                <a:ea typeface="Open Sans" pitchFamily="34" charset="-122"/>
                <a:cs typeface="Open Sans" pitchFamily="34" charset="-120"/>
              </a:rPr>
              <a:t>#The core of our review is the comparison between the Raw Dataset (with backgrounds) and the Rectified Dataset (isolated screens).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957632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801410" y="2965252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029653" y="310896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Metric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75077" y="3108960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Raw Dataset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716691" y="310896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Rectified Dataset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615571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1029653" y="375927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Top-1 Accuracy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75077" y="375927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99.09%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16691" y="375927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99.03%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265890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1029653" y="440959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Training Time (10 Epochs)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375077" y="440959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2318.97 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716691" y="440959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1308.96 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4916210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1029653" y="505991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Best Accuracy Epoch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375077" y="505991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10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716691" y="505991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7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5566529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1029653" y="571023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Validation Loss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5375077" y="5710238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0.0293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716691" y="5710238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ea typeface="Open Sans" pitchFamily="34" charset="-122"/>
                <a:cs typeface="Open Sans" pitchFamily="34" charset="-120"/>
              </a:rPr>
              <a:t>0.0346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93790" y="6564630"/>
            <a:ext cx="130428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400" dirty="0">
                <a:solidFill>
                  <a:srgbClr val="FEFEFE"/>
                </a:solidFill>
                <a:ea typeface="Instrument Sans Medium" pitchFamily="34" charset="-122"/>
                <a:cs typeface="Instrument Sans Medium" pitchFamily="34" charset="-120"/>
              </a:rPr>
              <a:t>Key Insight: The Rectification step proved critical, reducing training time by 43% while maintaining comparable accuracy</a:t>
            </a:r>
            <a:endParaRPr lang="en-US" sz="2400" dirty="0"/>
          </a:p>
        </p:txBody>
      </p:sp>
      <p:pic>
        <p:nvPicPr>
          <p:cNvPr id="27" name="תמונה 26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8F30E85-393C-6C87-C00A-B152A6351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A48CE8B-7780-6313-ECAA-A5F22911B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  <p:pic>
        <p:nvPicPr>
          <p:cNvPr id="6" name="תמונה 5" descr="תמונה שמכילה טקסט, צילום מסך, תרשים, מקבי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F40BE75-40C5-F6B7-9128-1DE168497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18" y="1777499"/>
            <a:ext cx="6869282" cy="5151962"/>
          </a:xfrm>
          <a:prstGeom prst="rect">
            <a:avLst/>
          </a:prstGeom>
        </p:spPr>
      </p:pic>
      <p:pic>
        <p:nvPicPr>
          <p:cNvPr id="8" name="תמונה 7" descr="תמונה שמכילה טקסט, צילום מסך, תרשים, מקבי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DB609B7-E7BF-772A-D029-A7909B34D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488" y="1777499"/>
            <a:ext cx="6869282" cy="5151962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415069FC-7749-690F-341C-154173D387C2}"/>
              </a:ext>
            </a:extLst>
          </p:cNvPr>
          <p:cNvSpPr txBox="1"/>
          <p:nvPr/>
        </p:nvSpPr>
        <p:spPr>
          <a:xfrm>
            <a:off x="1693332" y="1215301"/>
            <a:ext cx="3939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GB" sz="3200" dirty="0">
                <a:solidFill>
                  <a:srgbClr val="BFBFBF"/>
                </a:solidFill>
              </a:rPr>
              <a:t>Raw pictures </a:t>
            </a:r>
            <a:endParaRPr lang="LID4096" sz="3200" dirty="0">
              <a:solidFill>
                <a:srgbClr val="BFBFBF"/>
              </a:solidFill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87A63039-9026-0FF8-E9A3-D99A2F928033}"/>
              </a:ext>
            </a:extLst>
          </p:cNvPr>
          <p:cNvSpPr txBox="1"/>
          <p:nvPr/>
        </p:nvSpPr>
        <p:spPr>
          <a:xfrm>
            <a:off x="8997245" y="1215301"/>
            <a:ext cx="3939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GB" sz="3200" dirty="0">
                <a:solidFill>
                  <a:srgbClr val="BFBFBF"/>
                </a:solidFill>
              </a:rPr>
              <a:t>Rectified pictures </a:t>
            </a:r>
            <a:endParaRPr lang="LID4096" sz="3200" dirty="0">
              <a:solidFill>
                <a:srgbClr val="BFBF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7197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25221"/>
            <a:ext cx="90416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000" dirty="0">
                <a:solidFill>
                  <a:srgbClr val="FEFEFE"/>
                </a:solidFill>
                <a:ea typeface="Instrument Sans Medium" pitchFamily="34" charset="-122"/>
                <a:cs typeface="Instrument Sans Medium" pitchFamily="34" charset="-120"/>
              </a:rPr>
              <a:t>Conclusions and Future Directions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93790" y="3527941"/>
            <a:ext cx="13042821" cy="42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1" algn="l" rtl="0">
              <a:lnSpc>
                <a:spcPts val="2850"/>
              </a:lnSpc>
              <a:buSzPct val="100000"/>
            </a:pPr>
            <a:endParaRPr lang="en-US" sz="2400" dirty="0">
              <a:solidFill>
                <a:srgbClr val="BFBFB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9701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 rtl="0">
              <a:lnSpc>
                <a:spcPts val="2850"/>
              </a:lnSpc>
              <a:buSzPct val="100000"/>
              <a:buChar char="•"/>
            </a:pPr>
            <a:endParaRPr lang="en-US" sz="2400" dirty="0"/>
          </a:p>
        </p:txBody>
      </p:sp>
      <p:pic>
        <p:nvPicPr>
          <p:cNvPr id="10" name="תמונה 9" descr="תמונה שמכילה שחור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95F5A21-08C7-FB7D-A5A0-8CEB0DB91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5502" y="7616276"/>
            <a:ext cx="2314898" cy="581106"/>
          </a:xfrm>
          <a:prstGeom prst="rect">
            <a:avLst/>
          </a:prstGeom>
        </p:spPr>
      </p:pic>
      <p:graphicFrame>
        <p:nvGraphicFramePr>
          <p:cNvPr id="9" name="טבלה 8">
            <a:extLst>
              <a:ext uri="{FF2B5EF4-FFF2-40B4-BE49-F238E27FC236}">
                <a16:creationId xmlns:a16="http://schemas.microsoft.com/office/drawing/2014/main" id="{055C9906-D85B-4A3C-CB8B-C822EE5B4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976507"/>
              </p:ext>
            </p:extLst>
          </p:nvPr>
        </p:nvGraphicFramePr>
        <p:xfrm>
          <a:off x="793790" y="1571900"/>
          <a:ext cx="12822621" cy="374633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74207">
                  <a:extLst>
                    <a:ext uri="{9D8B030D-6E8A-4147-A177-3AD203B41FA5}">
                      <a16:colId xmlns:a16="http://schemas.microsoft.com/office/drawing/2014/main" val="1478836595"/>
                    </a:ext>
                  </a:extLst>
                </a:gridCol>
                <a:gridCol w="4274207">
                  <a:extLst>
                    <a:ext uri="{9D8B030D-6E8A-4147-A177-3AD203B41FA5}">
                      <a16:colId xmlns:a16="http://schemas.microsoft.com/office/drawing/2014/main" val="1589920774"/>
                    </a:ext>
                  </a:extLst>
                </a:gridCol>
                <a:gridCol w="4274207">
                  <a:extLst>
                    <a:ext uri="{9D8B030D-6E8A-4147-A177-3AD203B41FA5}">
                      <a16:colId xmlns:a16="http://schemas.microsoft.com/office/drawing/2014/main" val="162853046"/>
                    </a:ext>
                  </a:extLst>
                </a:gridCol>
              </a:tblGrid>
              <a:tr h="55093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ea typeface="Open Sans" pitchFamily="34" charset="-122"/>
                          <a:cs typeface="Open Sans" pitchFamily="34" charset="-120"/>
                        </a:rPr>
                        <a:t>Desired Results</a:t>
                      </a:r>
                      <a:endParaRPr lang="LID4096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ea typeface="Open Sans" pitchFamily="34" charset="-122"/>
                          <a:cs typeface="Open Sans" pitchFamily="34" charset="-120"/>
                        </a:rPr>
                        <a:t>Lessons Learned</a:t>
                      </a:r>
                      <a:endParaRPr lang="LID4096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ea typeface="Open Sans" pitchFamily="34" charset="-122"/>
                          <a:cs typeface="Open Sans" pitchFamily="34" charset="-120"/>
                        </a:rPr>
                        <a:t>Future Ideas</a:t>
                      </a:r>
                      <a:endParaRPr lang="LID4096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109604"/>
                  </a:ext>
                </a:extLst>
              </a:tr>
              <a:tr h="3195402">
                <a:tc>
                  <a:txBody>
                    <a:bodyPr/>
                    <a:lstStyle/>
                    <a:p>
                      <a:pPr algn="l" rtl="0">
                        <a:lnSpc>
                          <a:spcPts val="2850"/>
                        </a:lnSpc>
                        <a:buSzPct val="100000"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Achieved near-perfect accuracy </a:t>
                      </a:r>
                      <a:r>
                        <a:rPr lang="en-GB" sz="2400" b="1" dirty="0">
                          <a:solidFill>
                            <a:srgbClr val="FFFF00"/>
                          </a:solidFill>
                        </a:rPr>
                        <a:t>99.03%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 rtl="0">
                        <a:lnSpc>
                          <a:spcPts val="2850"/>
                        </a:lnSpc>
                        <a:buSzPct val="100000"/>
                        <a:buChar char="•"/>
                      </a:pPr>
                      <a:endParaRPr lang="en-US" sz="2400" dirty="0">
                        <a:solidFill>
                          <a:srgbClr val="BFBFBF"/>
                        </a:solidFill>
                      </a:endParaRPr>
                    </a:p>
                    <a:p>
                      <a:pPr algn="ctr"/>
                      <a:endParaRPr lang="LID4096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Perspective transformation enables </a:t>
                      </a:r>
                      <a:r>
                        <a:rPr lang="fr-FR" sz="2400" dirty="0" err="1">
                          <a:solidFill>
                            <a:schemeClr val="tx1"/>
                          </a:solidFill>
                        </a:rPr>
                        <a:t>faster</a:t>
                      </a:r>
                      <a:r>
                        <a:rPr lang="fr-FR" sz="2400" dirty="0">
                          <a:solidFill>
                            <a:schemeClr val="tx1"/>
                          </a:solidFill>
                        </a:rPr>
                        <a:t> convergence</a:t>
                      </a:r>
                      <a:endParaRPr lang="en-US" sz="2400" dirty="0">
                        <a:solidFill>
                          <a:schemeClr val="tx1"/>
                        </a:solidFill>
                        <a:ea typeface="Open Sans" pitchFamily="34" charset="-122"/>
                        <a:cs typeface="Open Sans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a typeface="Open Sans" pitchFamily="34" charset="-122"/>
                          <a:cs typeface="Open Sans" pitchFamily="34" charset="-120"/>
                        </a:rPr>
                        <a:t>Generative AI can effectively bridge the "Data Scarcity" gap for rare industrial defects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LID4096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Synthetic-to-Real Validation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LID4096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438682"/>
                  </a:ext>
                </a:extLst>
              </a:tr>
            </a:tbl>
          </a:graphicData>
        </a:graphic>
      </p:graphicFrame>
      <p:pic>
        <p:nvPicPr>
          <p:cNvPr id="1026" name="Picture 2" descr="How To Fix a Broken TV Screen">
            <a:extLst>
              <a:ext uri="{FF2B5EF4-FFF2-40B4-BE49-F238E27FC236}">
                <a16:creationId xmlns:a16="http://schemas.microsoft.com/office/drawing/2014/main" id="{041A3834-BAA3-3FE7-F4D2-54E9FC455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1837" y="3051942"/>
            <a:ext cx="3891114" cy="217902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question mark - Wiktionary, the free dictionary">
            <a:extLst>
              <a:ext uri="{FF2B5EF4-FFF2-40B4-BE49-F238E27FC236}">
                <a16:creationId xmlns:a16="http://schemas.microsoft.com/office/drawing/2014/main" id="{A44E40C7-D9AE-0516-A16D-661C00C97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543" y="3430314"/>
            <a:ext cx="1287702" cy="128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תמונה 13" descr="תמונה שמכילה טקסט, קו, תרשים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FA88550-AF7C-73C7-2F66-3E7B9F0E50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7743" y="2596054"/>
            <a:ext cx="2764802" cy="2634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386</Words>
  <Application>Microsoft Office PowerPoint</Application>
  <PresentationFormat>מותאם אישית</PresentationFormat>
  <Paragraphs>59</Paragraphs>
  <Slides>7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Arial</vt:lpstr>
      <vt:lpstr>Open Sans</vt:lpstr>
      <vt:lpstr>Instrument Sans Medium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Amit Wagensberg</cp:lastModifiedBy>
  <cp:revision>24</cp:revision>
  <dcterms:created xsi:type="dcterms:W3CDTF">2026-01-15T11:45:47Z</dcterms:created>
  <dcterms:modified xsi:type="dcterms:W3CDTF">2026-01-21T13:20:59Z</dcterms:modified>
</cp:coreProperties>
</file>