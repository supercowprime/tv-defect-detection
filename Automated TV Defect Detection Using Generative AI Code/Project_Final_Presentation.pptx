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Instrument Sans Medium" panose="020B0604020202020204" charset="0"/>
      <p:regular r:id="rId9"/>
    </p:embeddedFont>
    <p:embeddedFont>
      <p:font typeface="Open Sans" panose="020B0606030504020204" pitchFamily="34" charset="0"/>
      <p:regular r:id="rId10"/>
      <p:bold r:id="rId11"/>
    </p:embeddedFont>
  </p:embeddedFontLst>
  <p:defaultTextStyle>
    <a:defPPr>
      <a:defRPr lang="LID4096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255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048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09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1" y="2826097"/>
            <a:ext cx="8207931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4700"/>
              </a:lnSpc>
              <a:buNone/>
            </a:pPr>
            <a:r>
              <a:rPr lang="en-US" sz="40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Definition and Achievements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93790" y="3713202"/>
            <a:ext cx="13042821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400"/>
              </a:lnSpc>
              <a:buSzPct val="100000"/>
              <a:buChar char="•"/>
            </a:pP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Goal: To address the challenge of "Data Scarcity" for broken screens in industrial production lines by using Generative AI to create realistic synthetic datasets for training Quality Assurance models.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93790" y="4397335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 rtl="0">
              <a:lnSpc>
                <a:spcPts val="2400"/>
              </a:lnSpc>
              <a:buSzPct val="100000"/>
              <a:buChar char="•"/>
            </a:pP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Achievements: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93790" y="4773096"/>
            <a:ext cx="13042821" cy="394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 rtl="0">
              <a:lnSpc>
                <a:spcPts val="2400"/>
              </a:lnSpc>
              <a:buSzPct val="100000"/>
              <a:buChar char="•"/>
            </a:pP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Developed a fully automated four-stage pipeline: Base Generation, Smart Labeling/Masking, Defect Injection, and Perspective Rectification.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93790" y="5348555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 rtl="0">
              <a:lnSpc>
                <a:spcPts val="2400"/>
              </a:lnSpc>
              <a:buSzPct val="100000"/>
              <a:buChar char="•"/>
            </a:pP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Scale of Success: Generated a robust dataset of 7,200 high-resolution images to train a high-accuracy classification model.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93791" y="5724316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 rtl="0">
              <a:lnSpc>
                <a:spcPts val="2400"/>
              </a:lnSpc>
              <a:buSzPct val="100000"/>
              <a:buChar char="•"/>
            </a:pP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Successfully generated and classified five distinct classes: Good, Spiderweb, Scratch, Shattered Corner, and Puncture.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151143" y="6100077"/>
            <a:ext cx="13042821" cy="57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 rtl="0">
              <a:lnSpc>
                <a:spcPts val="2400"/>
              </a:lnSpc>
              <a:buSzPct val="100000"/>
              <a:buChar char="•"/>
            </a:pP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Successfully classified five distinct classes with 99.03% Top-1 accuracy.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93789" y="6675536"/>
            <a:ext cx="13042821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400"/>
              </a:lnSpc>
              <a:buSzPct val="100000"/>
              <a:buChar char="•"/>
            </a:pP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Novelty: The project introduces a comparative analysis between models trained on Raw vs. Rectified images. By isolating and "flattening" the screen, we significantly improved training efficiency without sacrificing performance.</a:t>
            </a:r>
            <a:endParaRPr lang="en-US" dirty="0"/>
          </a:p>
        </p:txBody>
      </p:sp>
      <p:pic>
        <p:nvPicPr>
          <p:cNvPr id="11" name="תמונה 10" descr="תמונה שמכילה שחור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ECFC070-E324-99B3-C3A0-030109731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5502" y="7616276"/>
            <a:ext cx="2314898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83140"/>
            <a:ext cx="6181249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600"/>
              </a:lnSpc>
              <a:buNone/>
            </a:pPr>
            <a:r>
              <a:rPr lang="en-US" sz="48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Preparation and Quality Efforts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30121" y="4306789"/>
            <a:ext cx="1304282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1850"/>
              </a:lnSpc>
              <a:buNone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identified screen area was slightly shrunk from the edges to prevent synthetic defects from overlapping with the TV's frame. Additionally, we automatically trimmed the bottom 10% of the detection box to ensure the TV stand was excluded from the mask, keeping the focus strictly on the display surface.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86" y="1645814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 rtl="0">
              <a:lnSpc>
                <a:spcPts val="185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 Composition: To ensure a balanced and comprehensive training set, we generated: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3785" y="1983558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 rtl="0">
              <a:lnSpc>
                <a:spcPts val="185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3,600 Base Images: Clean, "Good" condition TV screens in varied industrial settings.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3784" y="2321302"/>
            <a:ext cx="1304282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 rtl="0">
              <a:lnSpc>
                <a:spcPts val="185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3,600 Defected Images: Created by applying inpainting to the base images, resulting in 900 images for each of the four defect categories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3790" y="3086907"/>
            <a:ext cx="1323752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 rtl="0">
              <a:lnSpc>
                <a:spcPts val="185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Synthetic Generation: Used SDXL Lightning to generate high-quality base images of</a:t>
            </a:r>
            <a:b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TVs in industrial environments.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3790" y="3820120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 rtl="0">
              <a:lnSpc>
                <a:spcPts val="185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Precision Masking: Combined OWLv2 for object detection and SAM for segmentation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3790" y="5318938"/>
            <a:ext cx="1304282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185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Perspective Rectification: Developed a preprocessing script using OpenCV to identify screen corners and apply a perspective transformation, creating a standardized, "flat" view for the classifier.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3781" y="6128170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 rtl="0">
              <a:lnSpc>
                <a:spcPts val="185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 Engineering: Utilized extensive negative prompting</a:t>
            </a:r>
            <a:b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ensure baseline screens were "clean" and suitable.</a:t>
            </a:r>
            <a:endParaRPr lang="en-US" sz="2000" dirty="0"/>
          </a:p>
        </p:txBody>
      </p:sp>
      <p:pic>
        <p:nvPicPr>
          <p:cNvPr id="11" name="תמונה 10" descr="תמונה שמכילה שחור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3C1392D-7356-3670-0CC3-6056EA4C0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5502" y="7616276"/>
            <a:ext cx="2314898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2171488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FontTx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Benchmarking: Evaluated four different models for generation and inpainting. We ultimately selected RealVisXL V4.0 Lightning for base generation and OzzyGT/RealVisXL_V4.0_inpainting for synthesis. 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33175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Iterative Testing: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3790" y="375972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Fine-Tuning: Attempted to use Dreambooth to fine-tune a model on defect data, but the results did not meet quality standards.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3790" y="456482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Localized Inpainting: Tested inpainting in small, specific areas, which created unnatural artifacts and "bad" visual transitions.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3790" y="536992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Solution: These trials led to our successful full-screen masking approach which provided the most realistic and stable results for training</a:t>
            </a:r>
            <a:endParaRPr lang="en-US" sz="2000" dirty="0"/>
          </a:p>
        </p:txBody>
      </p:sp>
      <p:pic>
        <p:nvPicPr>
          <p:cNvPr id="8" name="תמונה 7" descr="תמונה שמכילה שחור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AC085DA-3A2A-7C57-C7A2-FF988A49E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5502" y="7616276"/>
            <a:ext cx="2314898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408" y="2554486"/>
            <a:ext cx="3120747" cy="312074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86" y="2554367"/>
            <a:ext cx="3120866" cy="312086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1462" y="2554247"/>
            <a:ext cx="3120747" cy="312074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9765" y="2554247"/>
            <a:ext cx="3120866" cy="3120866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286FAB67-FFFF-2AF3-53A7-836FD90BBD6E}"/>
              </a:ext>
            </a:extLst>
          </p:cNvPr>
          <p:cNvSpPr txBox="1"/>
          <p:nvPr/>
        </p:nvSpPr>
        <p:spPr>
          <a:xfrm>
            <a:off x="1240221" y="546538"/>
            <a:ext cx="1097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GB" sz="4000" dirty="0">
                <a:solidFill>
                  <a:schemeClr val="bg1"/>
                </a:solidFill>
              </a:rPr>
              <a:t>Example of the pipeline</a:t>
            </a:r>
            <a:endParaRPr lang="LID4096" sz="4000" dirty="0">
              <a:solidFill>
                <a:schemeClr val="bg1"/>
              </a:solidFill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09959323-3999-95E5-E442-339E20AABFC8}"/>
              </a:ext>
            </a:extLst>
          </p:cNvPr>
          <p:cNvSpPr txBox="1"/>
          <p:nvPr/>
        </p:nvSpPr>
        <p:spPr>
          <a:xfrm>
            <a:off x="239081" y="2190560"/>
            <a:ext cx="266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The Good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6CE61EDD-B013-2324-168F-9A1E3A11E09C}"/>
              </a:ext>
            </a:extLst>
          </p:cNvPr>
          <p:cNvSpPr txBox="1"/>
          <p:nvPr/>
        </p:nvSpPr>
        <p:spPr>
          <a:xfrm>
            <a:off x="3897051" y="2190560"/>
            <a:ext cx="266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The Mask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7547E3D7-BEE5-AE03-3557-405241CC0220}"/>
              </a:ext>
            </a:extLst>
          </p:cNvPr>
          <p:cNvSpPr txBox="1"/>
          <p:nvPr/>
        </p:nvSpPr>
        <p:spPr>
          <a:xfrm>
            <a:off x="7847384" y="2190560"/>
            <a:ext cx="266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The Bad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3736C036-E0A5-0002-9DD4-5297D6061E80}"/>
              </a:ext>
            </a:extLst>
          </p:cNvPr>
          <p:cNvSpPr txBox="1"/>
          <p:nvPr/>
        </p:nvSpPr>
        <p:spPr>
          <a:xfrm>
            <a:off x="11556124" y="2184915"/>
            <a:ext cx="266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The Ugly</a:t>
            </a:r>
            <a:endParaRPr lang="LID4096" dirty="0">
              <a:solidFill>
                <a:schemeClr val="bg1"/>
              </a:solidFill>
            </a:endParaRPr>
          </a:p>
        </p:txBody>
      </p:sp>
      <p:pic>
        <p:nvPicPr>
          <p:cNvPr id="11" name="תמונה 10" descr="תמונה שמכילה שחור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82AA60B-99BF-0C21-5711-A88D6697AB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15502" y="7616276"/>
            <a:ext cx="2314898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4268"/>
            <a:ext cx="12914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Methodology and Results (Comparative Analysis)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7667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rtl="0">
              <a:lnSpc>
                <a:spcPts val="2850"/>
              </a:lnSpc>
              <a:buSzPct val="100000"/>
            </a:pPr>
            <a:r>
              <a:rPr lang="en-US" sz="175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#The core of our review is the comparison between the Raw Dataset (with backgrounds) and the Rectified Dataset (isolated screens).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957632"/>
            <a:ext cx="13042821" cy="3266837"/>
          </a:xfrm>
          <a:prstGeom prst="roundRect">
            <a:avLst>
              <a:gd name="adj" fmla="val 104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pPr algn="l" rtl="0"/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01410" y="2965252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l" rtl="0"/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1029653" y="310896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Metric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75077" y="3108960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 Dataset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716691" y="310896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Rectified Dataset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615571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pPr algn="l" rtl="0"/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1029653" y="375927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Top-1 Accuracy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75077" y="3759279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99.09%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716691" y="375927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99.03%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265890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l" rtl="0"/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1029653" y="440959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Time (10 Epochs)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375077" y="4409599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2318.97 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716691" y="440959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1308.96 s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4916210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pPr algn="l" rtl="0"/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1029653" y="505991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Accuracy Epoch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375077" y="5059918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716691" y="505991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5566529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l" rtl="0"/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1029653" y="571023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 Loss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5375077" y="5710238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0.0293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716691" y="571023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0.0346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93790" y="6564630"/>
            <a:ext cx="130428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Insight:</a:t>
            </a:r>
            <a:r>
              <a:rPr lang="en-US" sz="2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</a:t>
            </a:r>
            <a:r>
              <a:rPr lang="en-US" sz="2650" b="1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Rectification step proved critical</a:t>
            </a:r>
            <a:r>
              <a:rPr lang="en-US" sz="2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reducing training time by </a:t>
            </a:r>
            <a:r>
              <a:rPr lang="en-US" sz="2650" b="1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approximately 43%</a:t>
            </a:r>
            <a:r>
              <a:rPr lang="en-US" sz="2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while maintaining comparable accuracy</a:t>
            </a:r>
            <a:endParaRPr lang="en-US" sz="2650" dirty="0"/>
          </a:p>
        </p:txBody>
      </p:sp>
      <p:pic>
        <p:nvPicPr>
          <p:cNvPr id="27" name="תמונה 26" descr="תמונה שמכילה שחור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8F30E85-393C-6C87-C00A-B152A6351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5502" y="7616276"/>
            <a:ext cx="2314898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8235"/>
            <a:ext cx="90416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Conclusions and Future Directions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8064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Desired Results: Yes, the pipeline achieved near-perfect accuracy (99%+) and established that isolating the Region of Interest via rectification makes for a much more efficient model training.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0857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Lessons Learned: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52794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Standardizing the input via perspective transformation allows the model to converge faster and focus purely on defect textures rather than varying camera angles.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330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Generative AI can effectively bridge the "Data Scarcity" gap for rare industrial defects.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7752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Ideas: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1743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Synthetic-to-Real Validation: Testing the model on a small sample of actual broken TVs to measure real-world generalization.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022538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Factory Integration: Adapting the perspective rectification pipeline for live video processing; by isolating the screen area, we reduce computational load to allow higher FPS, enabling instantaneous quality feedback on high-speed industrial conveyor belts.</a:t>
            </a:r>
            <a:endParaRPr lang="en-US" sz="1750" dirty="0"/>
          </a:p>
        </p:txBody>
      </p:sp>
      <p:pic>
        <p:nvPicPr>
          <p:cNvPr id="10" name="תמונה 9" descr="תמונה שמכילה שחור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95F5A21-08C7-FB7D-A5A0-8CEB0DB91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5502" y="7616276"/>
            <a:ext cx="2314898" cy="5811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686</Words>
  <Application>Microsoft Office PowerPoint</Application>
  <PresentationFormat>מותאם אישית</PresentationFormat>
  <Paragraphs>59</Paragraphs>
  <Slides>6</Slides>
  <Notes>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Arial</vt:lpstr>
      <vt:lpstr>Instrument Sans Medium</vt:lpstr>
      <vt:lpstr>Open Sans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Amit Wagensberg</cp:lastModifiedBy>
  <cp:revision>10</cp:revision>
  <dcterms:created xsi:type="dcterms:W3CDTF">2026-01-15T11:45:47Z</dcterms:created>
  <dcterms:modified xsi:type="dcterms:W3CDTF">2026-01-20T12:14:19Z</dcterms:modified>
</cp:coreProperties>
</file>