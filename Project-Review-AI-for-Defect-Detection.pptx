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4630400" cy="8229600"/>
  <p:notesSz cx="8229600" cy="14630400"/>
  <p:embeddedFontLst>
    <p:embeddedFont>
      <p:font typeface="IBM Plex Sans Medium" panose="020B0603050203000203" pitchFamily="34" charset="0"/>
      <p:regular r:id="rId9"/>
    </p:embeddedFont>
    <p:embeddedFont>
      <p:font typeface="Roboto" panose="02000000000000000000" pitchFamily="2" charset="0"/>
      <p:regular r:id="rId10"/>
      <p:bold r:id="rId11"/>
      <p:italic r:id="rId12"/>
    </p:embeddedFont>
  </p:embeddedFontLst>
  <p:defaultTextStyle>
    <a:defPPr>
      <a:defRPr lang="LID4096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96" autoAdjust="0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255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455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224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2C3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dpi.com/1424-8220/24/18/601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s://www.preprints.org/manuscript/202501.0788" TargetMode="External"/><Relationship Id="rId4" Type="http://schemas.openxmlformats.org/officeDocument/2006/relationships/hyperlink" Target="https://arxiv.org/html/2503.13985v1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5783"/>
            <a:ext cx="1011602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Project Review: AI for Defect Detection</a:t>
            </a:r>
            <a:endParaRPr lang="en-US" sz="4450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668191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92C32"/>
          </a:solidFill>
          <a:ln w="30480">
            <a:solidFill>
              <a:srgbClr val="61646A"/>
            </a:solidFill>
            <a:prstDash val="solid"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763310" y="2668191"/>
            <a:ext cx="121920" cy="2456617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524" y="29254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The Problem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142524" y="3415903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Obtaining real broken TV screen data is expensive, rare, and difficult.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5216962" y="2668191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92C32"/>
          </a:solidFill>
          <a:ln w="30480">
            <a:solidFill>
              <a:srgbClr val="61646A"/>
            </a:solidFill>
            <a:prstDash val="solid"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186482" y="2668191"/>
            <a:ext cx="121920" cy="2456617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565696" y="29254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The Solution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5565696" y="3415903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Generative AI (Inpainting) creates synthetic, high-quality datasets for QA models.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9640133" y="2668191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92C32"/>
          </a:solidFill>
          <a:ln w="30480">
            <a:solidFill>
              <a:srgbClr val="61646A"/>
            </a:solidFill>
            <a:prstDash val="solid"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609653" y="2668191"/>
            <a:ext cx="121920" cy="2456617"/>
          </a:xfrm>
          <a:prstGeom prst="roundRect">
            <a:avLst>
              <a:gd name="adj" fmla="val 27907"/>
            </a:avLst>
          </a:prstGeom>
          <a:solidFill>
            <a:srgbClr val="FFBC8F"/>
          </a:solidFill>
          <a:ln/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9988868" y="29254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Novelty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9988868" y="3415903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Fully automated pipeline: SDXL Lightning for rapid generation. OWLv2 for detection, SAM for segmentation.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3790" y="537995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Changes from Proposal: Due to inconsistent generation quality with small masks, we shifted to using Full-Screen Masks.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793790" y="599801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Since the generated defects now characterize the entire screen rather than a specific isolated point, the task logically shifted from Object Detection, classification to only Image Classification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17" name="תמונה 16" descr="תמונה שמכילה שחור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3D290C8-28DC-A272-91D2-E5076D179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8961" y="7719108"/>
            <a:ext cx="1877002" cy="4501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54273"/>
            <a:ext cx="653426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60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Related Work &amp; Project Context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801410" y="1791772"/>
            <a:ext cx="13030081" cy="5231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LID4096" sz="140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983456" y="1908215"/>
            <a:ext cx="180486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 / Year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158847" y="1908215"/>
            <a:ext cx="180105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Task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330428" y="1908215"/>
            <a:ext cx="180105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Methods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7502009" y="1908215"/>
            <a:ext cx="180105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9673590" y="1908215"/>
            <a:ext cx="180105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1845171" y="1908215"/>
            <a:ext cx="180486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Relation to Project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801410" y="2314932"/>
            <a:ext cx="13030081" cy="197453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LID4096" sz="140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983456" y="2431375"/>
            <a:ext cx="1804868" cy="870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u="sng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Latent Diffusion for Defect Segmentation (2024)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3158847" y="2431375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Surface Defect Segmentation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5330428" y="2431375"/>
            <a:ext cx="1801058" cy="870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Stable Diffusion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Data Augmentation (Synthetic Generation)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7502009" y="2431375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NEU-DET (Steel Surfaces)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9673590" y="2431375"/>
            <a:ext cx="1801058" cy="1161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Mean IoU (mIoU) by </a:t>
            </a: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6.85%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compared to baseline models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845170" y="2431375"/>
            <a:ext cx="1983819" cy="1741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empirical evidence that </a:t>
            </a: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Stable Diffusion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specifically improves defect detection accuracy in industrial tasks.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01410" y="4289465"/>
            <a:ext cx="13030081" cy="226480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LID4096" sz="140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983456" y="4405908"/>
            <a:ext cx="180486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u="sng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DefectFill (2025)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58847" y="4405908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Realistic Defect Generation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5330428" y="4405908"/>
            <a:ext cx="1801058" cy="1161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Inpainting Diffusion Model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to inject defects into healthy samples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7502009" y="4405908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MVTec AD (anomaly detection dataset)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9673590" y="4405908"/>
            <a:ext cx="1801058" cy="1451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that inpainted synthetic defects significantly improve detection model performance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845171" y="4405908"/>
            <a:ext cx="1804868" cy="2031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 validation: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Uses the exact same logic as our project—taking a clean product and "inpainting" a defect to solve data scarcity.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01410" y="6554272"/>
            <a:ext cx="13030081" cy="81343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LID4096" sz="1400">
              <a:solidFill>
                <a:schemeClr val="bg1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3456" y="6670715"/>
            <a:ext cx="180486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b="1" u="sng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YOLOv11 Benchmark (2025)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3158847" y="6670715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Object Detection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30428" y="6670715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Comparative study of </a:t>
            </a: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YOLOv5, v8, and v11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7502009" y="6670715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Solar Panel Defect Dataset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9673590" y="6670715"/>
            <a:ext cx="18010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YOLOv11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achieved </a:t>
            </a:r>
            <a:r>
              <a:rPr lang="en-US" sz="1400" b="1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93.4% mAP</a:t>
            </a: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845171" y="6670715"/>
            <a:ext cx="180486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Justifies our choice of classification model.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32" name="תמונה 31" descr="תמונה שמכילה שחור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A4B682D-A11B-06A2-DEF0-C6DDF945B2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58961" y="7719108"/>
            <a:ext cx="1877002" cy="4501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6635" y="261685"/>
            <a:ext cx="5063034" cy="404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60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Dataset &amp; Generation Pipeline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696635" y="1155978"/>
            <a:ext cx="4202906" cy="1668304"/>
          </a:xfrm>
          <a:prstGeom prst="roundRect">
            <a:avLst>
              <a:gd name="adj" fmla="val 1163"/>
            </a:avLst>
          </a:prstGeom>
          <a:solidFill>
            <a:srgbClr val="484B51"/>
          </a:solidFill>
          <a:ln/>
        </p:spPr>
        <p:txBody>
          <a:bodyPr/>
          <a:lstStyle/>
          <a:p>
            <a:endParaRPr lang="LID4096" sz="16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825937" y="1291709"/>
            <a:ext cx="388144" cy="388144"/>
          </a:xfrm>
          <a:prstGeom prst="roundRect">
            <a:avLst>
              <a:gd name="adj" fmla="val 23555911"/>
            </a:avLst>
          </a:prstGeom>
          <a:solidFill>
            <a:srgbClr val="FFBC8F"/>
          </a:solidFill>
          <a:ln/>
        </p:spPr>
        <p:txBody>
          <a:bodyPr/>
          <a:lstStyle/>
          <a:p>
            <a:endParaRPr lang="LID4096" sz="1600">
              <a:solidFill>
                <a:schemeClr val="bg1"/>
              </a:solidFill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616" y="1398448"/>
            <a:ext cx="174665" cy="1746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5937" y="1809155"/>
            <a:ext cx="3944303" cy="258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Base Generation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825937" y="2184201"/>
            <a:ext cx="3944303" cy="51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SDXL Lightning (RealVisXL V4.0) for realistic TV pictures.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696635" y="3394026"/>
            <a:ext cx="4202906" cy="1409700"/>
          </a:xfrm>
          <a:prstGeom prst="roundRect">
            <a:avLst>
              <a:gd name="adj" fmla="val 1377"/>
            </a:avLst>
          </a:prstGeom>
          <a:solidFill>
            <a:srgbClr val="484B51"/>
          </a:solidFill>
          <a:ln/>
        </p:spPr>
        <p:txBody>
          <a:bodyPr/>
          <a:lstStyle/>
          <a:p>
            <a:endParaRPr lang="LID4096" sz="1600" dirty="0">
              <a:solidFill>
                <a:schemeClr val="bg1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5937" y="3523328"/>
            <a:ext cx="388144" cy="388144"/>
          </a:xfrm>
          <a:prstGeom prst="roundRect">
            <a:avLst>
              <a:gd name="adj" fmla="val 23555911"/>
            </a:avLst>
          </a:prstGeom>
          <a:solidFill>
            <a:srgbClr val="FFBC8F"/>
          </a:solidFill>
          <a:ln/>
        </p:spPr>
        <p:txBody>
          <a:bodyPr/>
          <a:lstStyle/>
          <a:p>
            <a:endParaRPr lang="LID4096" sz="1600">
              <a:solidFill>
                <a:schemeClr val="bg1"/>
              </a:solidFill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615" y="3630067"/>
            <a:ext cx="174665" cy="1746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5937" y="4040773"/>
            <a:ext cx="3944303" cy="258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Labeling &amp; Masking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801950" y="4385102"/>
            <a:ext cx="4097591" cy="258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OWLv2, SAM for binary masks of the screen.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96635" y="5492385"/>
            <a:ext cx="4202906" cy="1668304"/>
          </a:xfrm>
          <a:prstGeom prst="roundRect">
            <a:avLst>
              <a:gd name="adj" fmla="val 1163"/>
            </a:avLst>
          </a:prstGeom>
          <a:solidFill>
            <a:srgbClr val="484B51"/>
          </a:solidFill>
          <a:ln/>
        </p:spPr>
        <p:txBody>
          <a:bodyPr/>
          <a:lstStyle/>
          <a:p>
            <a:endParaRPr lang="LID4096" sz="1600">
              <a:solidFill>
                <a:schemeClr val="bg1"/>
              </a:solidFill>
            </a:endParaRPr>
          </a:p>
        </p:txBody>
      </p:sp>
      <p:sp>
        <p:nvSpPr>
          <p:cNvPr id="15" name="Shape 11"/>
          <p:cNvSpPr/>
          <p:nvPr/>
        </p:nvSpPr>
        <p:spPr>
          <a:xfrm>
            <a:off x="825937" y="5621686"/>
            <a:ext cx="388144" cy="388144"/>
          </a:xfrm>
          <a:prstGeom prst="roundRect">
            <a:avLst>
              <a:gd name="adj" fmla="val 23555911"/>
            </a:avLst>
          </a:prstGeom>
          <a:solidFill>
            <a:srgbClr val="FFBC8F"/>
          </a:solidFill>
          <a:ln/>
        </p:spPr>
        <p:txBody>
          <a:bodyPr/>
          <a:lstStyle/>
          <a:p>
            <a:endParaRPr lang="LID4096" sz="1600">
              <a:solidFill>
                <a:schemeClr val="bg1"/>
              </a:solidFill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2617" y="5728425"/>
            <a:ext cx="174665" cy="1746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5937" y="6139132"/>
            <a:ext cx="3944303" cy="2586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Defect Injection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Text 13"/>
          <p:cNvSpPr/>
          <p:nvPr/>
        </p:nvSpPr>
        <p:spPr>
          <a:xfrm>
            <a:off x="825935" y="6449528"/>
            <a:ext cx="3944303" cy="51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SDXL Inpainting to inject specific defects into masked areas.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6443" y="933180"/>
            <a:ext cx="3877557" cy="2182026"/>
          </a:xfrm>
          <a:prstGeom prst="rect">
            <a:avLst/>
          </a:prstGeom>
        </p:spPr>
      </p:pic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6442" y="3115206"/>
            <a:ext cx="3877557" cy="2182087"/>
          </a:xfrm>
          <a:prstGeom prst="rect">
            <a:avLst/>
          </a:prstGeom>
        </p:spPr>
      </p:pic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6440" y="5298011"/>
            <a:ext cx="3877559" cy="2182088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752376" y="897374"/>
            <a:ext cx="3402023" cy="367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b="1" u="sng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Class Distribution</a:t>
            </a:r>
            <a:endParaRPr lang="en-US" b="1" u="sng" dirty="0">
              <a:solidFill>
                <a:schemeClr val="bg1"/>
              </a:solidFill>
            </a:endParaRPr>
          </a:p>
        </p:txBody>
      </p:sp>
      <p:sp>
        <p:nvSpPr>
          <p:cNvPr id="24" name="Text 16"/>
          <p:cNvSpPr/>
          <p:nvPr/>
        </p:nvSpPr>
        <p:spPr>
          <a:xfrm>
            <a:off x="9752376" y="1272421"/>
            <a:ext cx="3402023" cy="518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distinct classes generated cyclically for balance: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Text 17"/>
          <p:cNvSpPr/>
          <p:nvPr/>
        </p:nvSpPr>
        <p:spPr>
          <a:xfrm>
            <a:off x="9752376" y="1906071"/>
            <a:ext cx="3402023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Spiderweb (cracks)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Text 18"/>
          <p:cNvSpPr/>
          <p:nvPr/>
        </p:nvSpPr>
        <p:spPr>
          <a:xfrm>
            <a:off x="9752376" y="2281118"/>
            <a:ext cx="3402023" cy="289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Scratch (surface damage)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9752376" y="2656166"/>
            <a:ext cx="4052087" cy="28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Shattered_corner (structural damage)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Text 20"/>
          <p:cNvSpPr/>
          <p:nvPr/>
        </p:nvSpPr>
        <p:spPr>
          <a:xfrm>
            <a:off x="9752376" y="3017310"/>
            <a:ext cx="3402023" cy="289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Puncture (impact holes)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3" name="תיבת טקסט 32">
            <a:extLst>
              <a:ext uri="{FF2B5EF4-FFF2-40B4-BE49-F238E27FC236}">
                <a16:creationId xmlns:a16="http://schemas.microsoft.com/office/drawing/2014/main" id="{FA5A58B0-F33A-12D0-DE5A-4FCF3425ABB9}"/>
              </a:ext>
            </a:extLst>
          </p:cNvPr>
          <p:cNvSpPr txBox="1"/>
          <p:nvPr/>
        </p:nvSpPr>
        <p:spPr>
          <a:xfrm>
            <a:off x="9644376" y="3328151"/>
            <a:ext cx="45015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iterated through four model versions and plenty of trial and error to transform these early attempts into the final, high-quality results.</a:t>
            </a:r>
            <a:endParaRPr lang="LID4096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4" name="תמונה 33" descr="תמונה שמכילה טקסט, לוח מודעות, טלוויזיה, צילום מסך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40C5BBEA-B47A-7E63-27E2-302F490FDF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0333" y="4836196"/>
            <a:ext cx="2241688" cy="2241688"/>
          </a:xfrm>
          <a:prstGeom prst="rect">
            <a:avLst/>
          </a:prstGeom>
        </p:spPr>
      </p:pic>
      <p:pic>
        <p:nvPicPr>
          <p:cNvPr id="35" name="תמונה 34" descr="תמונה שמכילה אלומיניום, מתכת, מכונית, כביש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C40E5B59-CFC4-82AC-B9FF-633B6BF6FF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92021" y="4817980"/>
            <a:ext cx="2259904" cy="2259904"/>
          </a:xfrm>
          <a:prstGeom prst="rect">
            <a:avLst/>
          </a:prstGeom>
        </p:spPr>
      </p:pic>
      <p:pic>
        <p:nvPicPr>
          <p:cNvPr id="36" name="תמונה 35" descr="תמונה שמכילה שחור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4992D53-3317-7DA6-1573-4A42A1D9459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658961" y="7719108"/>
            <a:ext cx="1877002" cy="4501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1272" y="512802"/>
            <a:ext cx="3024068" cy="378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360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Training Results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99" y="2690725"/>
            <a:ext cx="5436803" cy="5436803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840" y="2144133"/>
            <a:ext cx="7987925" cy="599087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51272" y="7523202"/>
            <a:ext cx="13327856" cy="193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C8592085-B211-E3C8-8BEF-992BF66BD41D}"/>
              </a:ext>
            </a:extLst>
          </p:cNvPr>
          <p:cNvSpPr txBox="1"/>
          <p:nvPr/>
        </p:nvSpPr>
        <p:spPr>
          <a:xfrm>
            <a:off x="554400" y="975167"/>
            <a:ext cx="103824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GB" sz="2000" dirty="0">
                <a:solidFill>
                  <a:schemeClr val="bg1"/>
                </a:solidFill>
              </a:rPr>
              <a:t>Model Architecture: yolo11n-cls chosen for its speed and efficiency in image classification tasks.</a:t>
            </a:r>
          </a:p>
          <a:p>
            <a:pPr algn="l" rtl="0"/>
            <a:r>
              <a:rPr lang="en-GB" sz="2000" dirty="0">
                <a:solidFill>
                  <a:schemeClr val="bg1"/>
                </a:solidFill>
              </a:rPr>
              <a:t>Training Setup:</a:t>
            </a:r>
          </a:p>
          <a:p>
            <a:pPr algn="l" rtl="0"/>
            <a:r>
              <a:rPr lang="en-GB" sz="2000" dirty="0">
                <a:solidFill>
                  <a:schemeClr val="bg1"/>
                </a:solidFill>
              </a:rPr>
              <a:t>    Epochs: 10</a:t>
            </a:r>
          </a:p>
          <a:p>
            <a:pPr algn="l" rtl="0"/>
            <a:r>
              <a:rPr lang="en-GB" sz="2000" dirty="0">
                <a:solidFill>
                  <a:schemeClr val="bg1"/>
                </a:solidFill>
              </a:rPr>
              <a:t>    Image Size: 640x640</a:t>
            </a:r>
          </a:p>
          <a:p>
            <a:pPr algn="l" rtl="0"/>
            <a:r>
              <a:rPr lang="en-GB" sz="2000" dirty="0">
                <a:solidFill>
                  <a:schemeClr val="bg1"/>
                </a:solidFill>
              </a:rPr>
              <a:t>    Split: 80% Train, 20% Validation</a:t>
            </a:r>
            <a:r>
              <a:rPr lang="he-IL" sz="2000" dirty="0">
                <a:solidFill>
                  <a:schemeClr val="bg1"/>
                </a:solidFill>
              </a:rPr>
              <a:t>.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0353EF59-CCCD-DA89-FF42-6E4BA86D7684}"/>
              </a:ext>
            </a:extLst>
          </p:cNvPr>
          <p:cNvSpPr txBox="1"/>
          <p:nvPr/>
        </p:nvSpPr>
        <p:spPr>
          <a:xfrm>
            <a:off x="7988648" y="1650254"/>
            <a:ext cx="5896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GB" sz="2400" dirty="0">
                <a:solidFill>
                  <a:schemeClr val="bg1"/>
                </a:solidFill>
              </a:rPr>
              <a:t>Recall of 0.966</a:t>
            </a:r>
            <a:r>
              <a:rPr lang="he-IL" sz="2400" dirty="0">
                <a:solidFill>
                  <a:schemeClr val="bg1"/>
                </a:solidFill>
              </a:rPr>
              <a:t> </a:t>
            </a:r>
            <a:r>
              <a:rPr lang="en-GB" sz="2400" dirty="0">
                <a:solidFill>
                  <a:schemeClr val="bg1"/>
                </a:solidFill>
              </a:rPr>
              <a:t>and accuracy of 0.971</a:t>
            </a:r>
            <a:endParaRPr lang="LID4096" sz="2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000" y="-5637"/>
            <a:ext cx="8236800" cy="8236800"/>
          </a:xfrm>
          <a:prstGeom prst="rect">
            <a:avLst/>
          </a:prstGeom>
        </p:spPr>
      </p:pic>
      <p:pic>
        <p:nvPicPr>
          <p:cNvPr id="2" name="תמונה 1" descr="תמונה שמכילה שחור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3CCEC7C-11ED-C28A-8FED-06150891A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8961" y="7719108"/>
            <a:ext cx="1877002" cy="45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196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659" y="410170"/>
            <a:ext cx="6393180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200" dirty="0">
                <a:solidFill>
                  <a:schemeClr val="bg1"/>
                </a:solidFill>
                <a:latin typeface="IBM Plex Sans Medium" pitchFamily="34" charset="0"/>
                <a:ea typeface="IBM Plex Sans Medium" pitchFamily="34" charset="-122"/>
                <a:cs typeface="IBM Plex Sans Medium" pitchFamily="34" charset="-120"/>
              </a:rPr>
              <a:t>Project Plan &amp; Technical Scope</a:t>
            </a:r>
            <a:endParaRPr lang="en-US" sz="3200" dirty="0">
              <a:solidFill>
                <a:schemeClr val="bg1"/>
              </a:solidFill>
            </a:endParaRPr>
          </a:p>
        </p:txBody>
      </p:sp>
      <p:graphicFrame>
        <p:nvGraphicFramePr>
          <p:cNvPr id="31" name="טבלה 30">
            <a:extLst>
              <a:ext uri="{FF2B5EF4-FFF2-40B4-BE49-F238E27FC236}">
                <a16:creationId xmlns:a16="http://schemas.microsoft.com/office/drawing/2014/main" id="{629B221E-78C3-B4F2-91DB-B377CC8CC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738295"/>
              </p:ext>
            </p:extLst>
          </p:nvPr>
        </p:nvGraphicFramePr>
        <p:xfrm>
          <a:off x="157811" y="980195"/>
          <a:ext cx="13713886" cy="6619684"/>
        </p:xfrm>
        <a:graphic>
          <a:graphicData uri="http://schemas.openxmlformats.org/drawingml/2006/table">
            <a:tbl>
              <a:tblPr/>
              <a:tblGrid>
                <a:gridCol w="2487589">
                  <a:extLst>
                    <a:ext uri="{9D8B030D-6E8A-4147-A177-3AD203B41FA5}">
                      <a16:colId xmlns:a16="http://schemas.microsoft.com/office/drawing/2014/main" val="989028191"/>
                    </a:ext>
                  </a:extLst>
                </a:gridCol>
                <a:gridCol w="6301211">
                  <a:extLst>
                    <a:ext uri="{9D8B030D-6E8A-4147-A177-3AD203B41FA5}">
                      <a16:colId xmlns:a16="http://schemas.microsoft.com/office/drawing/2014/main" val="3979931224"/>
                    </a:ext>
                  </a:extLst>
                </a:gridCol>
                <a:gridCol w="3675707">
                  <a:extLst>
                    <a:ext uri="{9D8B030D-6E8A-4147-A177-3AD203B41FA5}">
                      <a16:colId xmlns:a16="http://schemas.microsoft.com/office/drawing/2014/main" val="238586514"/>
                    </a:ext>
                  </a:extLst>
                </a:gridCol>
                <a:gridCol w="1249379">
                  <a:extLst>
                    <a:ext uri="{9D8B030D-6E8A-4147-A177-3AD203B41FA5}">
                      <a16:colId xmlns:a16="http://schemas.microsoft.com/office/drawing/2014/main" val="1817665917"/>
                    </a:ext>
                  </a:extLst>
                </a:gridCol>
              </a:tblGrid>
              <a:tr h="2685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Project Step</a:t>
                      </a:r>
                      <a:endParaRPr lang="en-GB" sz="160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 Scope &amp; Models Used</a:t>
                      </a:r>
                      <a:endParaRPr lang="en-GB" sz="160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Expected Outcomes</a:t>
                      </a:r>
                      <a:endParaRPr lang="en-GB" sz="160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Due Date</a:t>
                      </a:r>
                      <a:endParaRPr lang="en-GB" sz="160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52798"/>
                  </a:ext>
                </a:extLst>
              </a:tr>
              <a:tr h="17504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Pipeline Optimization: Masking &amp; Realism</a:t>
                      </a:r>
                      <a:endParaRPr lang="en-GB" sz="1600" dirty="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Mask Refinement: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Fine-tuning the segmentation model to exclude TV stands to prevent inpainting artifacts.</a:t>
                      </a:r>
                    </a:p>
                    <a:p>
                      <a:pPr>
                        <a:buNone/>
                      </a:pP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Inpainting Tuning: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Adjusting generative parameters (Prompts, Strength, Guidance Scale) to ensure defects are realistic and clearly visible in all generated outputs.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An optimized pipeline producing accurate masks and realistic defects.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[hopefully before the final presentation]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940771"/>
                  </a:ext>
                </a:extLst>
              </a:tr>
              <a:tr h="14470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Mass Dataset Generation</a:t>
                      </a:r>
                      <a:endParaRPr lang="en-GB" sz="160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Batch Processing: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Executing the optimized pipeline on a large scale.</a:t>
                      </a:r>
                    </a:p>
                    <a:p>
                      <a:pPr>
                        <a:buNone/>
                      </a:pP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Augmentation: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Utilizing varied prompts and random seeds to create a diverse range of defects and visual conditions for training data.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 large-scale, diverse synthetic dataset ready for model training.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[31/12/25]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554769"/>
                  </a:ext>
                </a:extLst>
              </a:tr>
              <a:tr h="16492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Sim-to-Real Validation</a:t>
                      </a:r>
                      <a:endParaRPr lang="en-GB" sz="160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Model Training: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Training a detection model on the full generated synthetic dataset.</a:t>
                      </a:r>
                    </a:p>
                    <a:p>
                      <a:pPr>
                        <a:buNone/>
                      </a:pP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Inference Testing: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Testing the trained model on a separate set of </a:t>
                      </a:r>
                      <a:r>
                        <a:rPr lang="en-US" sz="1600" i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real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defective TV images to evaluate capabilities.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Validation metrics determining if the model can successfully detect real-world defects based on synthetic learning.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[hopefully before the final presentation]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9610341"/>
                  </a:ext>
                </a:extLst>
              </a:tr>
              <a:tr h="14509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Prepare Final Presentation</a:t>
                      </a:r>
                      <a:endParaRPr lang="en-GB" sz="1600" dirty="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Aggregating results, visualizing "Synthetic vs. Real" comparisons, and summarizing the technical challenges and model performance.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Final presentation</a:t>
                      </a: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>
                          <a:solidFill>
                            <a:schemeClr val="bg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[hopefully before the final presentation]</a:t>
                      </a:r>
                    </a:p>
                    <a:p>
                      <a:pPr>
                        <a:buNone/>
                      </a:pPr>
                      <a:endParaRPr lang="en-GB" sz="1600" dirty="0">
                        <a:solidFill>
                          <a:schemeClr val="bg1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33046" marR="33046" marT="16523" marB="16523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2311729"/>
                  </a:ext>
                </a:extLst>
              </a:tr>
            </a:tbl>
          </a:graphicData>
        </a:graphic>
      </p:graphicFrame>
      <p:pic>
        <p:nvPicPr>
          <p:cNvPr id="33" name="תמונה 32" descr="תמונה שמכילה שחור, צילום מסך, עיצוב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94B5814-B6DB-AB12-0144-0A3ED1F11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8961" y="7719108"/>
            <a:ext cx="1877002" cy="4501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644</Words>
  <Application>Microsoft Office PowerPoint</Application>
  <PresentationFormat>מותאם אישית</PresentationFormat>
  <Paragraphs>87</Paragraphs>
  <Slides>6</Slides>
  <Notes>5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Roboto</vt:lpstr>
      <vt:lpstr>IBM Plex Sans Medium</vt:lpstr>
      <vt:lpstr>Arial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Amit Wagensberg</cp:lastModifiedBy>
  <cp:revision>7</cp:revision>
  <dcterms:created xsi:type="dcterms:W3CDTF">2025-12-19T11:32:52Z</dcterms:created>
  <dcterms:modified xsi:type="dcterms:W3CDTF">2025-12-19T12:42:42Z</dcterms:modified>
</cp:coreProperties>
</file>