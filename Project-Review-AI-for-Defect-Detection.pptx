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4630400" cy="8229600"/>
  <p:notesSz cx="8229600" cy="14630400"/>
  <p:embeddedFontLst>
    <p:embeddedFont>
      <p:font typeface="IBM Plex Sans Medium" panose="020B0603050203000203" pitchFamily="34" charset="0"/>
      <p:regular r:id="rId9"/>
    </p:embeddedFont>
    <p:embeddedFont>
      <p:font typeface="Roboto" panose="02000000000000000000" pitchFamily="2" charset="0"/>
      <p:regular r:id="rId10"/>
      <p:bold r:id="rId11"/>
      <p:italic r:id="rId12"/>
    </p:embeddedFont>
  </p:embeddedFontLst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6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5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4.fnt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3.fntdata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font" Target="fonts/font2.fntdata" /><Relationship Id="rId4" Type="http://schemas.openxmlformats.org/officeDocument/2006/relationships/slide" Target="slides/slide3.xml" /><Relationship Id="rId9" Type="http://schemas.openxmlformats.org/officeDocument/2006/relationships/font" Target="fonts/font1.fntdata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45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</a:t>
            </a:r>
            <a:r>
              <a:rPr lang="en-US" dirty="0" err="1"/>
              <a:t>IoU</a:t>
            </a:r>
            <a:r>
              <a:rPr lang="en-US" dirty="0"/>
              <a:t> (Intersection over Union): A metric that measures how accurately the model’s predicted “mask” overlaps with the actual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4/18/6016" TargetMode="Externa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2.png" /><Relationship Id="rId5" Type="http://schemas.openxmlformats.org/officeDocument/2006/relationships/hyperlink" Target="https://www.preprints.org/manuscript/202501.0788" TargetMode="External" /><Relationship Id="rId4" Type="http://schemas.openxmlformats.org/officeDocument/2006/relationships/hyperlink" Target="https://arxiv.org/html/2503.13985v1" TargetMode="Externa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 /><Relationship Id="rId13" Type="http://schemas.openxmlformats.org/officeDocument/2006/relationships/image" Target="../media/image13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6.svg" /><Relationship Id="rId11" Type="http://schemas.openxmlformats.org/officeDocument/2006/relationships/image" Target="../media/image11.png" /><Relationship Id="rId5" Type="http://schemas.openxmlformats.org/officeDocument/2006/relationships/image" Target="../media/image5.png" /><Relationship Id="rId10" Type="http://schemas.openxmlformats.org/officeDocument/2006/relationships/image" Target="../media/image10.png" /><Relationship Id="rId4" Type="http://schemas.openxmlformats.org/officeDocument/2006/relationships/image" Target="../media/image4.svg" /><Relationship Id="rId9" Type="http://schemas.openxmlformats.org/officeDocument/2006/relationships/image" Target="../media/image9.png" /><Relationship Id="rId14" Type="http://schemas.openxmlformats.org/officeDocument/2006/relationships/image" Target="../media/image2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5783"/>
            <a:ext cx="101160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Review: AI for Defect Detection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66819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63310" y="266819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42524" y="29254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Problem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341590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Obtaining real broken TV screen data is expensive, rare, and difficult.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6962" y="266819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186482" y="266819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565696" y="29254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Solution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565696" y="341590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(Inpainting) creates synthetic, high-quality datasets for QA models.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40133" y="266819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09653" y="266819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988868" y="29254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Novelty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88868" y="341590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synthetic data to ensure the final product is without </a:t>
            </a:r>
            <a:r>
              <a:rPr lang="en-US" sz="200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flaw.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53799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 from Proposal: Due to inconsistent generation quality with small masks, we shifted to using Full-Screen Masks.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59980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Since the generated defects now characterize the entire screen rather than a specific isolated point, the task logically shifted from Object Detection, classification to only Image Classification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7" name="תמונה 16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3D290C8-28DC-A272-91D2-E5076D179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273"/>
            <a:ext cx="653426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Related Work &amp; Project Context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01410" y="1791772"/>
            <a:ext cx="130300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83456" y="1908215"/>
            <a:ext cx="1804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/ Year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158847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330428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02009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673590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45171" y="1908215"/>
            <a:ext cx="1804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 to Project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1410" y="2314932"/>
            <a:ext cx="13030081" cy="1974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3456" y="2431375"/>
            <a:ext cx="1804868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Latent Diffusion for Defect Segmentation (2024)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58847" y="243137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Defect Segmentation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30428" y="2431375"/>
            <a:ext cx="1801058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Data Augmentation (Synthetic Generation)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02009" y="243137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NEU-DET (Steel Surfaces)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73590" y="2431375"/>
            <a:ext cx="1801058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Mean IoU (mIoU) by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6.85%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compared to baseline models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45170" y="2431375"/>
            <a:ext cx="1983819" cy="1741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empirical evidence that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specifically improves defect detection accuracy in industrial tasks.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1410" y="4289465"/>
            <a:ext cx="13030081" cy="22648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3456" y="4405908"/>
            <a:ext cx="1804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DefectFill (2025)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58847" y="4405908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Realistic Defect Generation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30428" y="4405908"/>
            <a:ext cx="1801058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Inpainting Diffusion Model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inject defects into healthy samples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02009" y="4405908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MVTec AD (anomaly detection dataset)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73590" y="4405908"/>
            <a:ext cx="1801058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that inpainted synthetic defects significantly improve detection model performance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45171" y="4405908"/>
            <a:ext cx="1804868" cy="203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validation: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Uses the exact same logic as our project—taking a clean product and "inpainting" a defect to solve data scarcity.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6554272"/>
            <a:ext cx="13030081" cy="8134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3456" y="6670715"/>
            <a:ext cx="180486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YOLOv11 Benchmark (2025)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58847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Object Detection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0428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Comparative study of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YOLOv5, v8, and v11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02009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Solar Panel Defect Dataset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73590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YOLOv11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achieved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93.4% mAP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845171" y="6670715"/>
            <a:ext cx="180486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Justifies our choice of classification model.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2" name="תמונה 31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A4B682D-A11B-06A2-DEF0-C6DDF945B2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635" y="261685"/>
            <a:ext cx="5063034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Dataset &amp; Generation Pipeline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96635" y="1155978"/>
            <a:ext cx="4202906" cy="1668304"/>
          </a:xfrm>
          <a:prstGeom prst="roundRect">
            <a:avLst>
              <a:gd name="adj" fmla="val 116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LID4096" sz="1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5937" y="1291709"/>
            <a:ext cx="388144" cy="388144"/>
          </a:xfrm>
          <a:prstGeom prst="roundRect">
            <a:avLst>
              <a:gd name="adj" fmla="val 23555911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616" y="1398448"/>
            <a:ext cx="174665" cy="1746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937" y="1809155"/>
            <a:ext cx="394430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Generation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5937" y="2184201"/>
            <a:ext cx="394430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SDXL Lightning (RealVisXL V4.0) for realistic TV pictures.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96635" y="3394026"/>
            <a:ext cx="4202906" cy="1409700"/>
          </a:xfrm>
          <a:prstGeom prst="roundRect">
            <a:avLst>
              <a:gd name="adj" fmla="val 137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LID4096" sz="16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5937" y="3523328"/>
            <a:ext cx="388144" cy="388144"/>
          </a:xfrm>
          <a:prstGeom prst="roundRect">
            <a:avLst>
              <a:gd name="adj" fmla="val 23555911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615" y="3630067"/>
            <a:ext cx="174665" cy="1746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5937" y="4040773"/>
            <a:ext cx="394430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Labeling &amp; Masking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801950" y="4385102"/>
            <a:ext cx="4097591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OWLv2, SAM for binary masks of the screen.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96635" y="5492385"/>
            <a:ext cx="4202906" cy="1668304"/>
          </a:xfrm>
          <a:prstGeom prst="roundRect">
            <a:avLst>
              <a:gd name="adj" fmla="val 116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25937" y="5621686"/>
            <a:ext cx="388144" cy="388144"/>
          </a:xfrm>
          <a:prstGeom prst="roundRect">
            <a:avLst>
              <a:gd name="adj" fmla="val 23555911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17" y="5728425"/>
            <a:ext cx="174665" cy="1746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937" y="6139132"/>
            <a:ext cx="394430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 Injection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5935" y="6449528"/>
            <a:ext cx="394430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SDXL Inpainting to inject specific defects into masked areas.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6443" y="933180"/>
            <a:ext cx="3877557" cy="2182026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6442" y="3115206"/>
            <a:ext cx="3877557" cy="2182087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6440" y="5298011"/>
            <a:ext cx="3877559" cy="21820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52376" y="897374"/>
            <a:ext cx="3402023" cy="367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Distribution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24" name="Text 16"/>
          <p:cNvSpPr/>
          <p:nvPr/>
        </p:nvSpPr>
        <p:spPr>
          <a:xfrm>
            <a:off x="9752376" y="1272421"/>
            <a:ext cx="3402023" cy="51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distinct classes generated cyclically for balance: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 17"/>
          <p:cNvSpPr/>
          <p:nvPr/>
        </p:nvSpPr>
        <p:spPr>
          <a:xfrm>
            <a:off x="9752376" y="1906071"/>
            <a:ext cx="3402023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Spiderweb (cracks)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 18"/>
          <p:cNvSpPr/>
          <p:nvPr/>
        </p:nvSpPr>
        <p:spPr>
          <a:xfrm>
            <a:off x="9752376" y="2281118"/>
            <a:ext cx="3402023" cy="28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Scratch (surface damage)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 19"/>
          <p:cNvSpPr/>
          <p:nvPr/>
        </p:nvSpPr>
        <p:spPr>
          <a:xfrm>
            <a:off x="9752376" y="2656166"/>
            <a:ext cx="4052087" cy="28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Shattered_corner (structural damage)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 20"/>
          <p:cNvSpPr/>
          <p:nvPr/>
        </p:nvSpPr>
        <p:spPr>
          <a:xfrm>
            <a:off x="9752376" y="3017310"/>
            <a:ext cx="3402023" cy="28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Puncture (impact holes)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FA5A58B0-F33A-12D0-DE5A-4FCF3425ABB9}"/>
              </a:ext>
            </a:extLst>
          </p:cNvPr>
          <p:cNvSpPr txBox="1"/>
          <p:nvPr/>
        </p:nvSpPr>
        <p:spPr>
          <a:xfrm>
            <a:off x="9644376" y="3328151"/>
            <a:ext cx="4501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iterated through four model versions and plenty of trial and error to transform these early attempts into the final, high-quality results.</a:t>
            </a:r>
            <a:endParaRPr lang="LID409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4" name="תמונה 33" descr="תמונה שמכילה טקסט, לוח מודעות, טלוויזיה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0C5BBEA-B47A-7E63-27E2-302F490FDF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0333" y="4836196"/>
            <a:ext cx="2241688" cy="2241688"/>
          </a:xfrm>
          <a:prstGeom prst="rect">
            <a:avLst/>
          </a:prstGeom>
        </p:spPr>
      </p:pic>
      <p:pic>
        <p:nvPicPr>
          <p:cNvPr id="35" name="תמונה 34" descr="תמונה שמכילה אלומיניום, מתכת, מכונית, כב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40E5B59-CFC4-82AC-B9FF-633B6BF6FF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92021" y="4817980"/>
            <a:ext cx="2259904" cy="2259904"/>
          </a:xfrm>
          <a:prstGeom prst="rect">
            <a:avLst/>
          </a:prstGeom>
        </p:spPr>
      </p:pic>
      <p:pic>
        <p:nvPicPr>
          <p:cNvPr id="36" name="תמונה 35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4992D53-3317-7DA6-1573-4A42A1D945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272" y="512802"/>
            <a:ext cx="3024068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Training Results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99" y="2690725"/>
            <a:ext cx="5436803" cy="543680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840" y="2144133"/>
            <a:ext cx="7987925" cy="59908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1272" y="7523202"/>
            <a:ext cx="13327856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8592085-B211-E3C8-8BEF-992BF66BD41D}"/>
              </a:ext>
            </a:extLst>
          </p:cNvPr>
          <p:cNvSpPr txBox="1"/>
          <p:nvPr/>
        </p:nvSpPr>
        <p:spPr>
          <a:xfrm>
            <a:off x="554400" y="975167"/>
            <a:ext cx="10382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GB" sz="2000" dirty="0">
                <a:solidFill>
                  <a:schemeClr val="bg1"/>
                </a:solidFill>
              </a:rPr>
              <a:t>Model Architecture: yolo11n-cls chosen for its speed and efficiency in image classification tasks.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Training Setup: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    Epochs: 10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    Image Size: 640x640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    Split: 80% Train, 20% Validation</a:t>
            </a:r>
            <a:r>
              <a:rPr lang="he-IL" sz="2000" dirty="0">
                <a:solidFill>
                  <a:schemeClr val="bg1"/>
                </a:solidFill>
              </a:rPr>
              <a:t>.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353EF59-CCCD-DA89-FF42-6E4BA86D7684}"/>
              </a:ext>
            </a:extLst>
          </p:cNvPr>
          <p:cNvSpPr txBox="1"/>
          <p:nvPr/>
        </p:nvSpPr>
        <p:spPr>
          <a:xfrm>
            <a:off x="7988648" y="1650254"/>
            <a:ext cx="5896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GB" sz="2400" dirty="0">
                <a:solidFill>
                  <a:schemeClr val="bg1"/>
                </a:solidFill>
              </a:rPr>
              <a:t>Recall of 0.966</a:t>
            </a:r>
            <a:r>
              <a:rPr lang="he-IL" sz="2400" dirty="0">
                <a:solidFill>
                  <a:schemeClr val="bg1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and accuracy of 0.971</a:t>
            </a:r>
            <a:endParaRPr lang="LID4096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000" y="-5637"/>
            <a:ext cx="8236800" cy="8236800"/>
          </a:xfrm>
          <a:prstGeom prst="rect">
            <a:avLst/>
          </a:prstGeom>
        </p:spPr>
      </p:pic>
      <p:pic>
        <p:nvPicPr>
          <p:cNvPr id="2" name="תמונה 1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3CCEC7C-11ED-C28A-8FED-06150891A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9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659" y="410170"/>
            <a:ext cx="639318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Plan &amp; Technical Scope</a:t>
            </a:r>
            <a:endParaRPr lang="en-US" sz="3200" dirty="0">
              <a:solidFill>
                <a:schemeClr val="bg1"/>
              </a:solidFill>
            </a:endParaRPr>
          </a:p>
        </p:txBody>
      </p:sp>
      <p:graphicFrame>
        <p:nvGraphicFramePr>
          <p:cNvPr id="31" name="טבלה 30">
            <a:extLst>
              <a:ext uri="{FF2B5EF4-FFF2-40B4-BE49-F238E27FC236}">
                <a16:creationId xmlns:a16="http://schemas.microsoft.com/office/drawing/2014/main" id="{629B221E-78C3-B4F2-91DB-B377CC8CC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738295"/>
              </p:ext>
            </p:extLst>
          </p:nvPr>
        </p:nvGraphicFramePr>
        <p:xfrm>
          <a:off x="157811" y="980195"/>
          <a:ext cx="13713886" cy="6619684"/>
        </p:xfrm>
        <a:graphic>
          <a:graphicData uri="http://schemas.openxmlformats.org/drawingml/2006/table">
            <a:tbl>
              <a:tblPr/>
              <a:tblGrid>
                <a:gridCol w="2487589">
                  <a:extLst>
                    <a:ext uri="{9D8B030D-6E8A-4147-A177-3AD203B41FA5}">
                      <a16:colId xmlns:a16="http://schemas.microsoft.com/office/drawing/2014/main" val="989028191"/>
                    </a:ext>
                  </a:extLst>
                </a:gridCol>
                <a:gridCol w="6301211">
                  <a:extLst>
                    <a:ext uri="{9D8B030D-6E8A-4147-A177-3AD203B41FA5}">
                      <a16:colId xmlns:a16="http://schemas.microsoft.com/office/drawing/2014/main" val="3979931224"/>
                    </a:ext>
                  </a:extLst>
                </a:gridCol>
                <a:gridCol w="3675707">
                  <a:extLst>
                    <a:ext uri="{9D8B030D-6E8A-4147-A177-3AD203B41FA5}">
                      <a16:colId xmlns:a16="http://schemas.microsoft.com/office/drawing/2014/main" val="238586514"/>
                    </a:ext>
                  </a:extLst>
                </a:gridCol>
                <a:gridCol w="1249379">
                  <a:extLst>
                    <a:ext uri="{9D8B030D-6E8A-4147-A177-3AD203B41FA5}">
                      <a16:colId xmlns:a16="http://schemas.microsoft.com/office/drawing/2014/main" val="1817665917"/>
                    </a:ext>
                  </a:extLst>
                </a:gridCol>
              </a:tblGrid>
              <a:tr h="26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Project Step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Technical Scope &amp; Models Used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Expected Outcomes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Due Date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2798"/>
                  </a:ext>
                </a:extLst>
              </a:tr>
              <a:tr h="175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Pipeline Optimization: Masking &amp; Realism</a:t>
                      </a:r>
                      <a:endParaRPr lang="en-GB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Mask Refinement: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Fine-tuning the segmentation model to exclude TV stands to prevent inpainting artifacts.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Inpainting Tuning: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Adjusting generative parameters (Prompts, Strength, Guidance Scale) to ensure defects are realistic and clearly visible in all generated outputs.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An optimized pipeline producing accurate masks and realistic defects.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[hopefully before the final presentation]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940771"/>
                  </a:ext>
                </a:extLst>
              </a:tr>
              <a:tr h="144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Mass Dataset Generation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Batch Processing: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Executing the optimized pipeline on a large scale.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Data Augmentation: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Utilizing varied prompts and random seeds to create a diverse range of defects and visual conditions for training data.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 large-scale, diverse synthetic dataset ready for model training.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[31/12/25]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554769"/>
                  </a:ext>
                </a:extLst>
              </a:tr>
              <a:tr h="164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Sim-to-Real Validation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Model Training: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Training a detection model on the full generated synthetic dataset.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Inference Testing: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Testing the trained model on a separate set of </a:t>
                      </a:r>
                      <a:r>
                        <a:rPr lang="en-US" sz="1600" i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real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defective TV images to evaluate capabilities.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Validation metrics determining if the model can successfully detect real-world defects based on synthetic learning.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[hopefully before the final presentation]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610341"/>
                  </a:ext>
                </a:extLst>
              </a:tr>
              <a:tr h="1450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Prepare Final Presentation</a:t>
                      </a:r>
                      <a:endParaRPr lang="en-GB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Aggregating results, visualizing "Synthetic vs. Real" comparisons, and summarizing the technical challenges and model performance.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Final presentation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[hopefully before the final presentation]</a:t>
                      </a:r>
                    </a:p>
                    <a:p>
                      <a:pPr>
                        <a:buNone/>
                      </a:pPr>
                      <a:endParaRPr lang="en-GB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311729"/>
                  </a:ext>
                </a:extLst>
              </a:tr>
            </a:tbl>
          </a:graphicData>
        </a:graphic>
      </p:graphicFrame>
      <p:pic>
        <p:nvPicPr>
          <p:cNvPr id="33" name="תמונה 32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94B5814-B6DB-AB12-0144-0A3ED1F11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644</Words>
  <Application>Microsoft Office PowerPoint</Application>
  <PresentationFormat>Custom</PresentationFormat>
  <Paragraphs>87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yaniv hananis</cp:lastModifiedBy>
  <cp:revision>8</cp:revision>
  <dcterms:created xsi:type="dcterms:W3CDTF">2025-12-19T11:32:52Z</dcterms:created>
  <dcterms:modified xsi:type="dcterms:W3CDTF">2025-12-24T07:51:35Z</dcterms:modified>
</cp:coreProperties>
</file>